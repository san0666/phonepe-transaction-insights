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1"/>
  </p:sldMasterIdLst>
  <p:sldIdLst>
    <p:sldId id="256" r:id="rId2"/>
    <p:sldId id="257" r:id="rId3"/>
    <p:sldId id="269" r:id="rId4"/>
    <p:sldId id="258" r:id="rId5"/>
    <p:sldId id="259" r:id="rId6"/>
    <p:sldId id="260" r:id="rId7"/>
    <p:sldId id="261" r:id="rId8"/>
    <p:sldId id="262" r:id="rId9"/>
    <p:sldId id="263" r:id="rId10"/>
    <p:sldId id="264" r:id="rId11"/>
    <p:sldId id="265" r:id="rId12"/>
    <p:sldId id="270" r:id="rId13"/>
    <p:sldId id="266" r:id="rId14"/>
    <p:sldId id="267"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3CBB1E2-B2EF-4199-80E2-95919914C7A3}">
          <p14:sldIdLst>
            <p14:sldId id="256"/>
            <p14:sldId id="257"/>
            <p14:sldId id="269"/>
            <p14:sldId id="258"/>
            <p14:sldId id="259"/>
            <p14:sldId id="260"/>
            <p14:sldId id="261"/>
            <p14:sldId id="262"/>
            <p14:sldId id="263"/>
            <p14:sldId id="264"/>
            <p14:sldId id="265"/>
            <p14:sldId id="270"/>
            <p14:sldId id="266"/>
            <p14:sldId id="267"/>
            <p14:sldId id="26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9144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08831" y="1449146"/>
            <a:ext cx="7526338"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08831" y="5280847"/>
            <a:ext cx="7526338"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091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9144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09997" y="2222287"/>
            <a:ext cx="7524003" cy="36365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8996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0"/>
            <a:ext cx="9144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04863" y="2951396"/>
            <a:ext cx="7526337"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04863" y="5281200"/>
            <a:ext cx="7526337"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4262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9144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9996" y="2222287"/>
            <a:ext cx="367072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0" y="2222287"/>
            <a:ext cx="3670720"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4386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9144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09996" y="2174875"/>
            <a:ext cx="367072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09996" y="2751137"/>
            <a:ext cx="3687391"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280" y="2174875"/>
            <a:ext cx="3670720"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0" y="2751137"/>
            <a:ext cx="3670720"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7158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9144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3083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480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804863" y="446086"/>
            <a:ext cx="2660650"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04863" y="446088"/>
            <a:ext cx="2660650"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641724" y="446087"/>
            <a:ext cx="4689475"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4863" y="2260737"/>
            <a:ext cx="2660650"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6848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9996" y="727521"/>
            <a:ext cx="350154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4573588" y="0"/>
            <a:ext cx="4570412"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09996" y="2344684"/>
            <a:ext cx="350154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914357" y="6041361"/>
            <a:ext cx="732659" cy="365125"/>
          </a:xfrm>
        </p:spPr>
        <p:txBody>
          <a:bodyPr/>
          <a:lstStyle/>
          <a:p>
            <a:fld id="{5BCAD085-E8A6-8845-BD4E-CB4CCA059FC4}" type="datetimeFigureOut">
              <a:rPr lang="en-US" smtClean="0"/>
              <a:t>5/3/2025</a:t>
            </a:fld>
            <a:endParaRPr lang="en-US"/>
          </a:p>
        </p:txBody>
      </p:sp>
      <p:sp>
        <p:nvSpPr>
          <p:cNvPr id="6" name="Footer Placeholder 5"/>
          <p:cNvSpPr>
            <a:spLocks noGrp="1"/>
          </p:cNvSpPr>
          <p:nvPr>
            <p:ph type="ftr" sz="quarter" idx="11"/>
          </p:nvPr>
        </p:nvSpPr>
        <p:spPr>
          <a:xfrm>
            <a:off x="442797" y="6041361"/>
            <a:ext cx="2471560" cy="365125"/>
          </a:xfrm>
        </p:spPr>
        <p:txBody>
          <a:bodyPr/>
          <a:lstStyle/>
          <a:p>
            <a:endParaRPr lang="en-US"/>
          </a:p>
        </p:txBody>
      </p:sp>
      <p:sp>
        <p:nvSpPr>
          <p:cNvPr id="7" name="Slide Number Placeholder 6"/>
          <p:cNvSpPr>
            <a:spLocks noGrp="1"/>
          </p:cNvSpPr>
          <p:nvPr>
            <p:ph type="sldNum" sz="quarter" idx="12"/>
          </p:nvPr>
        </p:nvSpPr>
        <p:spPr>
          <a:xfrm>
            <a:off x="3647017" y="5915887"/>
            <a:ext cx="796616" cy="49059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7531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4863" y="4800600"/>
            <a:ext cx="7526337"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9144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04863" y="5367338"/>
            <a:ext cx="7526337"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61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485107" y="1338479"/>
            <a:ext cx="4749312"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49573" y="1495525"/>
            <a:ext cx="442038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651226" y="4700702"/>
            <a:ext cx="4418727"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5398884" y="1338479"/>
            <a:ext cx="3302316" cy="4075464"/>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3149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855663" y="2286585"/>
            <a:ext cx="3671336"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017816" y="2435956"/>
            <a:ext cx="328689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4616450" y="2286000"/>
            <a:ext cx="3671888" cy="2300288"/>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5BCAD085-E8A6-8845-BD4E-CB4CCA059FC4}" type="datetimeFigureOut">
              <a:rPr lang="en-US" smtClean="0"/>
              <a:t>5/3/2025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6287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9144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0088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5752238" y="446089"/>
            <a:ext cx="3391762"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9" name="AutoShape 4"/>
          <p:cNvSpPr>
            <a:spLocks noChangeAspect="1" noChangeArrowheads="1" noTextEdit="1"/>
          </p:cNvSpPr>
          <p:nvPr/>
        </p:nvSpPr>
        <p:spPr bwMode="auto">
          <a:xfrm>
            <a:off x="5233988" y="0"/>
            <a:ext cx="3910012"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 name="Vertical Title 1"/>
          <p:cNvSpPr>
            <a:spLocks noGrp="1"/>
          </p:cNvSpPr>
          <p:nvPr>
            <p:ph type="title" orient="vert"/>
          </p:nvPr>
        </p:nvSpPr>
        <p:spPr>
          <a:xfrm>
            <a:off x="6137655" y="586171"/>
            <a:ext cx="1701800"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04862" y="446089"/>
            <a:ext cx="4947376"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17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9997" y="447188"/>
            <a:ext cx="7524003"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09997" y="2184400"/>
            <a:ext cx="7524003"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42797" y="6041361"/>
            <a:ext cx="6289532"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6911422" y="6041361"/>
            <a:ext cx="993161" cy="365125"/>
          </a:xfrm>
          <a:prstGeom prst="rect">
            <a:avLst/>
          </a:prstGeom>
        </p:spPr>
        <p:txBody>
          <a:bodyPr vert="horz" lIns="91440" tIns="45720" rIns="91440" bIns="45720" rtlCol="0" anchor="b"/>
          <a:lstStyle>
            <a:lvl1pPr algn="r">
              <a:defRPr sz="900">
                <a:solidFill>
                  <a:schemeClr val="tx1"/>
                </a:solidFill>
              </a:defRPr>
            </a:lvl1pPr>
          </a:lstStyle>
          <a:p>
            <a:fld id="{5BCAD085-E8A6-8845-BD4E-CB4CCA059FC4}" type="datetimeFigureOut">
              <a:rPr lang="en-US" smtClean="0"/>
              <a:t>5/3/2025</a:t>
            </a:fld>
            <a:endParaRPr lang="en-US"/>
          </a:p>
        </p:txBody>
      </p:sp>
      <p:sp>
        <p:nvSpPr>
          <p:cNvPr id="6" name="Slide Number Placeholder 5"/>
          <p:cNvSpPr>
            <a:spLocks noGrp="1"/>
          </p:cNvSpPr>
          <p:nvPr>
            <p:ph type="sldNum" sz="quarter" idx="4"/>
          </p:nvPr>
        </p:nvSpPr>
        <p:spPr>
          <a:xfrm>
            <a:off x="7904584" y="5915887"/>
            <a:ext cx="796616" cy="490599"/>
          </a:xfrm>
          <a:prstGeom prst="rect">
            <a:avLst/>
          </a:prstGeom>
        </p:spPr>
        <p:txBody>
          <a:bodyPr vert="horz" lIns="91440" tIns="45720" rIns="91440" bIns="10800" rtlCol="0" anchor="b"/>
          <a:lstStyle>
            <a:lvl1pPr algn="r">
              <a:defRPr sz="20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77590030"/>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Lst>
  <p:txStyles>
    <p:titleStyle>
      <a:lvl1pPr algn="l" defTabSz="457200" rtl="0" eaLnBrk="1" latinLnBrk="0" hangingPunct="1">
        <a:spcBef>
          <a:spcPct val="0"/>
        </a:spcBef>
        <a:buNone/>
        <a:defRPr sz="4000" b="1" kern="1200">
          <a:solidFill>
            <a:srgbClr val="FEFEFE"/>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t="71000" r="-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08831" y="1441175"/>
            <a:ext cx="7526338" cy="2971051"/>
          </a:xfrm>
        </p:spPr>
        <p:txBody>
          <a:bodyPr/>
          <a:lstStyle/>
          <a:p>
            <a:pPr algn="ctr"/>
            <a:r>
              <a:rPr sz="6000" dirty="0" err="1">
                <a:solidFill>
                  <a:schemeClr val="bg1"/>
                </a:solidFill>
              </a:rPr>
              <a:t>PhonePe</a:t>
            </a:r>
            <a:r>
              <a:rPr sz="6000" dirty="0">
                <a:solidFill>
                  <a:schemeClr val="bg1"/>
                </a:solidFill>
              </a:rPr>
              <a:t> Transaction Insights </a:t>
            </a:r>
            <a:br>
              <a:rPr lang="en-IN" sz="4800" dirty="0"/>
            </a:br>
            <a:br>
              <a:rPr lang="en-IN" sz="4000" dirty="0"/>
            </a:br>
            <a:r>
              <a:rPr lang="en-IN" sz="3200" dirty="0">
                <a:solidFill>
                  <a:schemeClr val="bg1">
                    <a:lumMod val="75000"/>
                    <a:lumOff val="25000"/>
                  </a:schemeClr>
                </a:solidFill>
              </a:rPr>
              <a:t>Domain: Finance/Payments system</a:t>
            </a:r>
            <a:br>
              <a:rPr lang="en-IN" sz="3200" dirty="0">
                <a:solidFill>
                  <a:schemeClr val="bg1">
                    <a:lumMod val="75000"/>
                    <a:lumOff val="25000"/>
                  </a:schemeClr>
                </a:solidFill>
              </a:rPr>
            </a:br>
            <a:br>
              <a:rPr lang="en-IN" sz="3200" dirty="0">
                <a:solidFill>
                  <a:schemeClr val="bg1">
                    <a:lumMod val="75000"/>
                    <a:lumOff val="25000"/>
                  </a:schemeClr>
                </a:solidFill>
              </a:rPr>
            </a:br>
            <a:r>
              <a:rPr lang="en-IN" sz="1800" dirty="0">
                <a:solidFill>
                  <a:schemeClr val="bg1">
                    <a:lumMod val="75000"/>
                    <a:lumOff val="25000"/>
                  </a:schemeClr>
                </a:solidFill>
              </a:rPr>
              <a:t>BY: SANJANA AGARWAL</a:t>
            </a:r>
            <a:endParaRPr sz="1800" dirty="0">
              <a:solidFill>
                <a:schemeClr val="bg1">
                  <a:lumMod val="75000"/>
                  <a:lumOff val="25000"/>
                </a:schemeClr>
              </a:solidFill>
            </a:endParaRPr>
          </a:p>
        </p:txBody>
      </p:sp>
      <p:sp>
        <p:nvSpPr>
          <p:cNvPr id="3" name="Subtitle 2"/>
          <p:cNvSpPr>
            <a:spLocks noGrp="1"/>
          </p:cNvSpPr>
          <p:nvPr>
            <p:ph type="subTitle" idx="1"/>
          </p:nvPr>
        </p:nvSpPr>
        <p:spPr>
          <a:xfrm>
            <a:off x="651514" y="5474641"/>
            <a:ext cx="7526338" cy="434974"/>
          </a:xfrm>
        </p:spPr>
        <p:txBody>
          <a:bodyPr>
            <a:normAutofit lnSpcReduction="10000"/>
          </a:bodyPr>
          <a:lstStyle/>
          <a:p>
            <a:endParaRPr dirty="0"/>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2"/>
                </a:solidFill>
              </a:rPr>
              <a:t>Introduction</a:t>
            </a:r>
          </a:p>
        </p:txBody>
      </p:sp>
      <p:sp>
        <p:nvSpPr>
          <p:cNvPr id="3" name="Content Placeholder 2"/>
          <p:cNvSpPr>
            <a:spLocks noGrp="1"/>
          </p:cNvSpPr>
          <p:nvPr>
            <p:ph idx="1"/>
          </p:nvPr>
        </p:nvSpPr>
        <p:spPr>
          <a:xfrm>
            <a:off x="347881" y="1907655"/>
            <a:ext cx="7524003" cy="3636510"/>
          </a:xfrm>
        </p:spPr>
        <p:txBody>
          <a:bodyPr/>
          <a:lstStyle/>
          <a:p>
            <a:pPr algn="just"/>
            <a:r>
              <a:rPr sz="2000" dirty="0" err="1">
                <a:latin typeface="Arial Rounded MT Bold" panose="020F0704030504030204" pitchFamily="34" charset="0"/>
              </a:rPr>
              <a:t>PhonePe</a:t>
            </a:r>
            <a:r>
              <a:rPr sz="2000" dirty="0">
                <a:latin typeface="Arial Rounded MT Bold" panose="020F0704030504030204" pitchFamily="34" charset="0"/>
              </a:rPr>
              <a:t> is a leading digital payments platform in India.</a:t>
            </a:r>
          </a:p>
          <a:p>
            <a:pPr algn="just"/>
            <a:r>
              <a:rPr sz="2000" dirty="0" err="1">
                <a:latin typeface="Arial Rounded MT Bold" panose="020F0704030504030204" pitchFamily="34" charset="0"/>
              </a:rPr>
              <a:t>PhonePe</a:t>
            </a:r>
            <a:r>
              <a:rPr sz="2000" dirty="0">
                <a:latin typeface="Arial Rounded MT Bold" panose="020F0704030504030204" pitchFamily="34" charset="0"/>
              </a:rPr>
              <a:t> Pulse provides rich insights into transaction behaviors.</a:t>
            </a:r>
          </a:p>
          <a:p>
            <a:pPr algn="just"/>
            <a:r>
              <a:rPr sz="2000" dirty="0">
                <a:latin typeface="Arial Rounded MT Bold" panose="020F0704030504030204" pitchFamily="34" charset="0"/>
              </a:rPr>
              <a:t>This project analyzes transaction data across various dimensions to understand usage trends</a:t>
            </a:r>
            <a:r>
              <a:rPr dirty="0">
                <a:latin typeface="Arial Rounded MT Bold" panose="020F0704030504030204" pitchFamily="34"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8122-B046-F814-0219-7FB828A09231}"/>
              </a:ext>
            </a:extLst>
          </p:cNvPr>
          <p:cNvSpPr>
            <a:spLocks noGrp="1"/>
          </p:cNvSpPr>
          <p:nvPr>
            <p:ph type="title"/>
          </p:nvPr>
        </p:nvSpPr>
        <p:spPr/>
        <p:txBody>
          <a:bodyPr/>
          <a:lstStyle/>
          <a:p>
            <a:r>
              <a:rPr lang="en-IN" dirty="0">
                <a:solidFill>
                  <a:schemeClr val="bg2"/>
                </a:solidFill>
              </a:rPr>
              <a:t>Problem Statement</a:t>
            </a:r>
          </a:p>
        </p:txBody>
      </p:sp>
      <p:sp>
        <p:nvSpPr>
          <p:cNvPr id="3" name="Content Placeholder 2">
            <a:extLst>
              <a:ext uri="{FF2B5EF4-FFF2-40B4-BE49-F238E27FC236}">
                <a16:creationId xmlns:a16="http://schemas.microsoft.com/office/drawing/2014/main" id="{6630D04A-7280-ACF2-E7C4-C637123E22BA}"/>
              </a:ext>
            </a:extLst>
          </p:cNvPr>
          <p:cNvSpPr>
            <a:spLocks noGrp="1"/>
          </p:cNvSpPr>
          <p:nvPr>
            <p:ph idx="1"/>
          </p:nvPr>
        </p:nvSpPr>
        <p:spPr>
          <a:xfrm>
            <a:off x="613352" y="2517255"/>
            <a:ext cx="7524003" cy="3636510"/>
          </a:xfrm>
        </p:spPr>
        <p:txBody>
          <a:bodyPr/>
          <a:lstStyle/>
          <a:p>
            <a:pPr algn="just"/>
            <a:r>
              <a:rPr lang="en-IN" sz="2000" dirty="0">
                <a:effectLst/>
                <a:latin typeface="Arial Rounded MT Bold" panose="020F0704030504030204" pitchFamily="34" charset="0"/>
                <a:ea typeface="Arial" panose="020B0604020202020204" pitchFamily="34" charset="0"/>
              </a:rPr>
              <a:t>“With the increasing reliance on digital payment systems like PhonePe, understanding the dynamics of transactions, user engagement, and insurance-related data is crucial for improving services and targeting users effectively. “</a:t>
            </a:r>
          </a:p>
          <a:p>
            <a:pPr algn="just"/>
            <a:r>
              <a:rPr lang="en-IN" sz="2000" dirty="0">
                <a:effectLst/>
                <a:latin typeface="Arial Rounded MT Bold" panose="020F0704030504030204" pitchFamily="34" charset="0"/>
                <a:ea typeface="Arial" panose="020B0604020202020204" pitchFamily="34" charset="0"/>
              </a:rPr>
              <a:t>This project aims to </a:t>
            </a:r>
            <a:r>
              <a:rPr lang="en-IN" sz="2000" dirty="0" err="1">
                <a:effectLst/>
                <a:latin typeface="Arial Rounded MT Bold" panose="020F0704030504030204" pitchFamily="34" charset="0"/>
                <a:ea typeface="Arial" panose="020B0604020202020204" pitchFamily="34" charset="0"/>
              </a:rPr>
              <a:t>analyze</a:t>
            </a:r>
            <a:r>
              <a:rPr lang="en-IN" sz="2000" dirty="0">
                <a:effectLst/>
                <a:latin typeface="Arial Rounded MT Bold" panose="020F0704030504030204" pitchFamily="34" charset="0"/>
                <a:ea typeface="Arial" panose="020B0604020202020204" pitchFamily="34" charset="0"/>
              </a:rPr>
              <a:t> and visualize aggregated values of payment categories, create maps for total values at state and district levels, and identify top-performing states, districts, and pin codes</a:t>
            </a:r>
            <a:r>
              <a:rPr lang="en-IN" sz="2000" dirty="0">
                <a:effectLst/>
                <a:latin typeface="Arial" panose="020B0604020202020204" pitchFamily="34" charset="0"/>
                <a:ea typeface="Arial" panose="020B0604020202020204" pitchFamily="34" charset="0"/>
              </a:rPr>
              <a:t>.</a:t>
            </a:r>
          </a:p>
          <a:p>
            <a:endParaRPr lang="en-IN" dirty="0"/>
          </a:p>
        </p:txBody>
      </p:sp>
    </p:spTree>
    <p:extLst>
      <p:ext uri="{BB962C8B-B14F-4D97-AF65-F5344CB8AC3E}">
        <p14:creationId xmlns:p14="http://schemas.microsoft.com/office/powerpoint/2010/main" val="269821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2"/>
                </a:solidFill>
              </a:rPr>
              <a:t>Objectives</a:t>
            </a:r>
          </a:p>
        </p:txBody>
      </p:sp>
      <p:sp>
        <p:nvSpPr>
          <p:cNvPr id="3" name="Content Placeholder 2"/>
          <p:cNvSpPr>
            <a:spLocks noGrp="1"/>
          </p:cNvSpPr>
          <p:nvPr>
            <p:ph idx="1"/>
          </p:nvPr>
        </p:nvSpPr>
        <p:spPr>
          <a:xfrm>
            <a:off x="446204" y="2123964"/>
            <a:ext cx="7524003" cy="3636510"/>
          </a:xfrm>
        </p:spPr>
        <p:txBody>
          <a:bodyPr/>
          <a:lstStyle/>
          <a:p>
            <a:pPr algn="just"/>
            <a:r>
              <a:rPr dirty="0"/>
              <a:t> </a:t>
            </a:r>
            <a:r>
              <a:rPr sz="2000" dirty="0">
                <a:latin typeface="Arial Rounded MT Bold" panose="020F0704030504030204" pitchFamily="34" charset="0"/>
              </a:rPr>
              <a:t>Analyze transaction data across states and time.</a:t>
            </a:r>
          </a:p>
          <a:p>
            <a:pPr algn="just"/>
            <a:r>
              <a:rPr sz="2000" dirty="0">
                <a:latin typeface="Arial Rounded MT Bold" panose="020F0704030504030204" pitchFamily="34" charset="0"/>
              </a:rPr>
              <a:t> Study user engagement and device usage.</a:t>
            </a:r>
          </a:p>
          <a:p>
            <a:pPr algn="just"/>
            <a:r>
              <a:rPr sz="2000" dirty="0">
                <a:latin typeface="Arial Rounded MT Bold" panose="020F0704030504030204" pitchFamily="34" charset="0"/>
              </a:rPr>
              <a:t> Explore insurance uptake.</a:t>
            </a:r>
          </a:p>
          <a:p>
            <a:pPr algn="just"/>
            <a:r>
              <a:rPr sz="2000" dirty="0">
                <a:latin typeface="Arial Rounded MT Bold" panose="020F0704030504030204" pitchFamily="34" charset="0"/>
              </a:rPr>
              <a:t> Provide actionable insights to </a:t>
            </a:r>
            <a:r>
              <a:rPr sz="2000" dirty="0" err="1">
                <a:latin typeface="Arial Rounded MT Bold" panose="020F0704030504030204" pitchFamily="34" charset="0"/>
              </a:rPr>
              <a:t>PhonePe</a:t>
            </a:r>
            <a:r>
              <a:rPr sz="2000" dirty="0">
                <a:latin typeface="Arial Rounded MT Bold" panose="020F0704030504030204" pitchFamily="34" charset="0"/>
              </a:rPr>
              <a:t>.</a:t>
            </a:r>
          </a:p>
          <a:p>
            <a:pPr algn="just"/>
            <a:r>
              <a:rPr sz="2000" dirty="0">
                <a:latin typeface="Arial Rounded MT Bold" panose="020F0704030504030204" pitchFamily="34" charset="0"/>
              </a:rPr>
              <a:t> Total of 9 case studies examined.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2"/>
                </a:solidFill>
              </a:rPr>
              <a:t>Data Sources</a:t>
            </a:r>
          </a:p>
        </p:txBody>
      </p:sp>
      <p:sp>
        <p:nvSpPr>
          <p:cNvPr id="3" name="Content Placeholder 2"/>
          <p:cNvSpPr>
            <a:spLocks noGrp="1"/>
          </p:cNvSpPr>
          <p:nvPr>
            <p:ph idx="1"/>
          </p:nvPr>
        </p:nvSpPr>
        <p:spPr>
          <a:xfrm>
            <a:off x="475700" y="1838829"/>
            <a:ext cx="7524003" cy="3636510"/>
          </a:xfrm>
        </p:spPr>
        <p:txBody>
          <a:bodyPr/>
          <a:lstStyle/>
          <a:p>
            <a:pPr algn="just"/>
            <a:r>
              <a:rPr dirty="0"/>
              <a:t> </a:t>
            </a:r>
            <a:r>
              <a:rPr sz="2000" dirty="0" err="1">
                <a:latin typeface="Arial Rounded MT Bold" panose="020F0704030504030204" pitchFamily="34" charset="0"/>
              </a:rPr>
              <a:t>PhonePe</a:t>
            </a:r>
            <a:r>
              <a:rPr sz="2000" dirty="0">
                <a:latin typeface="Arial Rounded MT Bold" panose="020F0704030504030204" pitchFamily="34" charset="0"/>
              </a:rPr>
              <a:t> Pulse GitHub repository.</a:t>
            </a:r>
          </a:p>
          <a:p>
            <a:pPr algn="just"/>
            <a:r>
              <a:rPr sz="2000" dirty="0">
                <a:latin typeface="Arial Rounded MT Bold" panose="020F0704030504030204" pitchFamily="34" charset="0"/>
              </a:rPr>
              <a:t> SQL queries on PostgreSQL.</a:t>
            </a:r>
          </a:p>
          <a:p>
            <a:pPr algn="just"/>
            <a:r>
              <a:rPr lang="en-IN" sz="2000" dirty="0">
                <a:latin typeface="Arial Rounded MT Bold" panose="020F0704030504030204" pitchFamily="34" charset="0"/>
              </a:rPr>
              <a:t> </a:t>
            </a:r>
            <a:r>
              <a:rPr sz="2000" dirty="0">
                <a:latin typeface="Arial Rounded MT Bold" panose="020F0704030504030204" pitchFamily="34" charset="0"/>
              </a:rPr>
              <a:t>Data extracted and transformed into CSV using Python.</a:t>
            </a:r>
          </a:p>
          <a:p>
            <a:pPr algn="just"/>
            <a:r>
              <a:rPr sz="2000" dirty="0">
                <a:latin typeface="Arial Rounded MT Bold" panose="020F0704030504030204" pitchFamily="34" charset="0"/>
              </a:rPr>
              <a:t> CSV files used for analysis and visualization.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2"/>
                </a:solidFill>
              </a:rPr>
              <a:t>Tech Stack &amp; Tools</a:t>
            </a:r>
          </a:p>
        </p:txBody>
      </p:sp>
      <p:sp>
        <p:nvSpPr>
          <p:cNvPr id="3" name="Content Placeholder 2"/>
          <p:cNvSpPr>
            <a:spLocks noGrp="1"/>
          </p:cNvSpPr>
          <p:nvPr>
            <p:ph idx="1"/>
          </p:nvPr>
        </p:nvSpPr>
        <p:spPr>
          <a:xfrm>
            <a:off x="446203" y="2222287"/>
            <a:ext cx="7524003" cy="3636510"/>
          </a:xfrm>
        </p:spPr>
        <p:txBody>
          <a:bodyPr/>
          <a:lstStyle/>
          <a:p>
            <a:pPr algn="just"/>
            <a:r>
              <a:rPr lang="en-IN" sz="2000" dirty="0">
                <a:latin typeface="Arial Rounded MT Bold" panose="020F0704030504030204" pitchFamily="34" charset="0"/>
              </a:rPr>
              <a:t> Python</a:t>
            </a:r>
          </a:p>
          <a:p>
            <a:pPr algn="just"/>
            <a:r>
              <a:rPr dirty="0"/>
              <a:t> </a:t>
            </a:r>
            <a:r>
              <a:rPr sz="2000" dirty="0">
                <a:latin typeface="Arial Rounded MT Bold" panose="020F0704030504030204" pitchFamily="34" charset="0"/>
              </a:rPr>
              <a:t>SQL: Data querying</a:t>
            </a:r>
          </a:p>
          <a:p>
            <a:pPr algn="just"/>
            <a:r>
              <a:rPr lang="en-IN" sz="2000" dirty="0">
                <a:latin typeface="Arial Rounded MT Bold" panose="020F0704030504030204" pitchFamily="34" charset="0"/>
              </a:rPr>
              <a:t> </a:t>
            </a:r>
            <a:r>
              <a:rPr sz="2000" dirty="0">
                <a:latin typeface="Arial Rounded MT Bold" panose="020F0704030504030204" pitchFamily="34" charset="0"/>
              </a:rPr>
              <a:t>Pandas: Data analysis</a:t>
            </a:r>
          </a:p>
          <a:p>
            <a:pPr algn="just"/>
            <a:r>
              <a:rPr sz="2000" dirty="0">
                <a:latin typeface="Arial Rounded MT Bold" panose="020F0704030504030204" pitchFamily="34" charset="0"/>
              </a:rPr>
              <a:t> Matplotlib &amp; Seaborn: Visualization</a:t>
            </a:r>
          </a:p>
          <a:p>
            <a:pPr algn="just"/>
            <a:r>
              <a:rPr sz="2000" dirty="0">
                <a:latin typeface="Arial Rounded MT Bold" panose="020F0704030504030204" pitchFamily="34" charset="0"/>
              </a:rPr>
              <a:t> </a:t>
            </a:r>
            <a:r>
              <a:rPr sz="2000" dirty="0" err="1">
                <a:latin typeface="Arial Rounded MT Bold" panose="020F0704030504030204" pitchFamily="34" charset="0"/>
              </a:rPr>
              <a:t>Streamlit</a:t>
            </a:r>
            <a:r>
              <a:rPr sz="2000" dirty="0">
                <a:latin typeface="Arial Rounded MT Bold" panose="020F0704030504030204" pitchFamily="34" charset="0"/>
              </a:rPr>
              <a:t>: Dashboard development</a:t>
            </a:r>
          </a:p>
          <a:p>
            <a:pPr algn="just"/>
            <a:r>
              <a:rPr sz="2000" dirty="0">
                <a:latin typeface="Arial Rounded MT Bold" panose="020F0704030504030204" pitchFamily="34" charset="0"/>
              </a:rPr>
              <a:t> VS Code: Development environment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2"/>
                </a:solidFill>
              </a:rPr>
              <a:t>Case Study 1: Decoding Transaction Dynamics</a:t>
            </a:r>
          </a:p>
        </p:txBody>
      </p:sp>
      <p:sp>
        <p:nvSpPr>
          <p:cNvPr id="3" name="Content Placeholder 2"/>
          <p:cNvSpPr>
            <a:spLocks noGrp="1"/>
          </p:cNvSpPr>
          <p:nvPr>
            <p:ph idx="1"/>
          </p:nvPr>
        </p:nvSpPr>
        <p:spPr>
          <a:xfrm>
            <a:off x="613352" y="2645074"/>
            <a:ext cx="7524003" cy="3636510"/>
          </a:xfrm>
        </p:spPr>
        <p:txBody>
          <a:bodyPr>
            <a:normAutofit fontScale="55000" lnSpcReduction="20000"/>
          </a:bodyPr>
          <a:lstStyle/>
          <a:p>
            <a:pPr marL="0" indent="0" algn="just">
              <a:buNone/>
            </a:pPr>
            <a:r>
              <a:rPr lang="en-US" sz="2900" b="1" u="sng" dirty="0">
                <a:latin typeface="Arial Rounded MT Bold" panose="020F0704030504030204" pitchFamily="34" charset="0"/>
              </a:rPr>
              <a:t>Scenario:</a:t>
            </a:r>
            <a:br>
              <a:rPr lang="en-US" sz="2900" dirty="0">
                <a:latin typeface="Arial Rounded MT Bold" panose="020F0704030504030204" pitchFamily="34" charset="0"/>
              </a:rPr>
            </a:br>
            <a:r>
              <a:rPr lang="en-US" sz="2900" dirty="0" err="1">
                <a:latin typeface="Arial Rounded MT Bold" panose="020F0704030504030204" pitchFamily="34" charset="0"/>
              </a:rPr>
              <a:t>PhonePe</a:t>
            </a:r>
            <a:r>
              <a:rPr lang="en-US" sz="2900" dirty="0">
                <a:latin typeface="Arial Rounded MT Bold" panose="020F0704030504030204" pitchFamily="34" charset="0"/>
              </a:rPr>
              <a:t> noticed inconsistent growth across different states and transaction categories. The goal is to understand state-wise and category-wise transaction patterns over time</a:t>
            </a:r>
            <a:r>
              <a:rPr lang="en-US" sz="2600" dirty="0">
                <a:latin typeface="Arial Rounded MT Bold" panose="020F0704030504030204" pitchFamily="34" charset="0"/>
              </a:rPr>
              <a:t>. </a:t>
            </a:r>
          </a:p>
          <a:p>
            <a:pPr marL="0" indent="0">
              <a:buNone/>
            </a:pPr>
            <a:endParaRPr lang="en-US" sz="2600" dirty="0">
              <a:latin typeface="Arial Rounded MT Bold" panose="020F0704030504030204" pitchFamily="34" charset="0"/>
            </a:endParaRPr>
          </a:p>
          <a:p>
            <a:pPr algn="just">
              <a:buNone/>
            </a:pPr>
            <a:r>
              <a:rPr lang="en-US" sz="2900" b="1" dirty="0">
                <a:latin typeface="Arial Rounded MT Bold" panose="020F0704030504030204" pitchFamily="34" charset="0"/>
              </a:rPr>
              <a:t> </a:t>
            </a:r>
            <a:r>
              <a:rPr lang="en-US" sz="2900" b="1" u="sng" dirty="0">
                <a:latin typeface="Arial Rounded MT Bold" panose="020F0704030504030204" pitchFamily="34" charset="0"/>
              </a:rPr>
              <a:t>Key Insights</a:t>
            </a:r>
            <a:r>
              <a:rPr lang="en-US" sz="2900" b="1" dirty="0">
                <a:latin typeface="Arial Rounded MT Bold" panose="020F0704030504030204" pitchFamily="34" charset="0"/>
              </a:rPr>
              <a:t>:</a:t>
            </a:r>
            <a:endParaRPr lang="en-US" sz="2900" dirty="0">
              <a:latin typeface="Arial Rounded MT Bold" panose="020F0704030504030204" pitchFamily="34" charset="0"/>
            </a:endParaRPr>
          </a:p>
          <a:p>
            <a:pPr algn="just">
              <a:buFont typeface="Arial" panose="020B0604020202020204" pitchFamily="34" charset="0"/>
              <a:buChar char="•"/>
            </a:pPr>
            <a:r>
              <a:rPr lang="en-US" sz="2900" b="1" dirty="0">
                <a:solidFill>
                  <a:srgbClr val="00B0F0"/>
                </a:solidFill>
                <a:latin typeface="Arial Rounded MT Bold" panose="020F0704030504030204" pitchFamily="34" charset="0"/>
              </a:rPr>
              <a:t>Maharashtra</a:t>
            </a:r>
            <a:r>
              <a:rPr lang="en-US" sz="2900" dirty="0">
                <a:solidFill>
                  <a:srgbClr val="00B0F0"/>
                </a:solidFill>
                <a:latin typeface="Arial Rounded MT Bold" panose="020F0704030504030204" pitchFamily="34" charset="0"/>
              </a:rPr>
              <a:t>, </a:t>
            </a:r>
            <a:r>
              <a:rPr lang="en-US" sz="2900" b="1" dirty="0">
                <a:solidFill>
                  <a:srgbClr val="00B0F0"/>
                </a:solidFill>
                <a:latin typeface="Arial Rounded MT Bold" panose="020F0704030504030204" pitchFamily="34" charset="0"/>
              </a:rPr>
              <a:t>Karnataka</a:t>
            </a:r>
            <a:r>
              <a:rPr lang="en-US" sz="2900" dirty="0">
                <a:solidFill>
                  <a:srgbClr val="00B0F0"/>
                </a:solidFill>
                <a:latin typeface="Arial Rounded MT Bold" panose="020F0704030504030204" pitchFamily="34" charset="0"/>
              </a:rPr>
              <a:t>, and </a:t>
            </a:r>
            <a:r>
              <a:rPr lang="en-US" sz="2900" b="1" dirty="0">
                <a:solidFill>
                  <a:srgbClr val="00B0F0"/>
                </a:solidFill>
                <a:latin typeface="Arial Rounded MT Bold" panose="020F0704030504030204" pitchFamily="34" charset="0"/>
              </a:rPr>
              <a:t>Tamil </a:t>
            </a:r>
            <a:r>
              <a:rPr lang="en-US" sz="2900" b="1" dirty="0">
                <a:latin typeface="Arial Rounded MT Bold" panose="020F0704030504030204" pitchFamily="34" charset="0"/>
              </a:rPr>
              <a:t>Nadu</a:t>
            </a:r>
            <a:r>
              <a:rPr lang="en-US" sz="2900" dirty="0">
                <a:latin typeface="Arial Rounded MT Bold" panose="020F0704030504030204" pitchFamily="34" charset="0"/>
              </a:rPr>
              <a:t> consistently ranked among the top 5 states by transaction volume.</a:t>
            </a:r>
          </a:p>
          <a:p>
            <a:pPr algn="just">
              <a:buFont typeface="Arial" panose="020B0604020202020204" pitchFamily="34" charset="0"/>
              <a:buChar char="•"/>
            </a:pPr>
            <a:r>
              <a:rPr lang="en-US" sz="2900" b="1" dirty="0">
                <a:solidFill>
                  <a:srgbClr val="00B0F0"/>
                </a:solidFill>
                <a:latin typeface="Arial Rounded MT Bold" panose="020F0704030504030204" pitchFamily="34" charset="0"/>
              </a:rPr>
              <a:t>UPI payments</a:t>
            </a:r>
            <a:r>
              <a:rPr lang="en-US" sz="2900" dirty="0">
                <a:solidFill>
                  <a:srgbClr val="00B0F0"/>
                </a:solidFill>
                <a:latin typeface="Arial Rounded MT Bold" panose="020F0704030504030204" pitchFamily="34" charset="0"/>
              </a:rPr>
              <a:t> </a:t>
            </a:r>
            <a:r>
              <a:rPr lang="en-US" sz="2900" dirty="0">
                <a:latin typeface="Arial Rounded MT Bold" panose="020F0704030504030204" pitchFamily="34" charset="0"/>
              </a:rPr>
              <a:t>were the dominant mode in every quarter, growing steadily YoY.</a:t>
            </a:r>
          </a:p>
          <a:p>
            <a:pPr algn="just">
              <a:buFont typeface="Arial" panose="020B0604020202020204" pitchFamily="34" charset="0"/>
              <a:buChar char="•"/>
            </a:pPr>
            <a:r>
              <a:rPr lang="en-US" sz="2900" b="1" dirty="0">
                <a:solidFill>
                  <a:srgbClr val="00B0F0"/>
                </a:solidFill>
                <a:latin typeface="Arial Rounded MT Bold" panose="020F0704030504030204" pitchFamily="34" charset="0"/>
              </a:rPr>
              <a:t>Recharge and bill payments</a:t>
            </a:r>
            <a:r>
              <a:rPr lang="en-US" sz="2900" dirty="0">
                <a:solidFill>
                  <a:srgbClr val="00B0F0"/>
                </a:solidFill>
                <a:latin typeface="Arial Rounded MT Bold" panose="020F0704030504030204" pitchFamily="34" charset="0"/>
              </a:rPr>
              <a:t> </a:t>
            </a:r>
            <a:r>
              <a:rPr lang="en-US" sz="2900" dirty="0">
                <a:latin typeface="Arial Rounded MT Bold" panose="020F0704030504030204" pitchFamily="34" charset="0"/>
              </a:rPr>
              <a:t>showed a decline in some rural districts, possibly due to market saturation or seasonal demand.</a:t>
            </a:r>
          </a:p>
          <a:p>
            <a:pPr algn="just">
              <a:buFont typeface="Arial" panose="020B0604020202020204" pitchFamily="34" charset="0"/>
              <a:buChar char="•"/>
            </a:pPr>
            <a:r>
              <a:rPr lang="en-US" sz="2900" b="1" dirty="0">
                <a:latin typeface="Arial Rounded MT Bold" panose="020F0704030504030204" pitchFamily="34" charset="0"/>
              </a:rPr>
              <a:t>Quarter 4 </a:t>
            </a:r>
            <a:r>
              <a:rPr lang="en-US" sz="2900" b="1" dirty="0">
                <a:solidFill>
                  <a:srgbClr val="00B0F0"/>
                </a:solidFill>
                <a:latin typeface="Arial Rounded MT Bold" panose="020F0704030504030204" pitchFamily="34" charset="0"/>
              </a:rPr>
              <a:t>(Oct–Dec)</a:t>
            </a:r>
            <a:r>
              <a:rPr lang="en-US" sz="2900" dirty="0">
                <a:solidFill>
                  <a:srgbClr val="00B0F0"/>
                </a:solidFill>
                <a:latin typeface="Arial Rounded MT Bold" panose="020F0704030504030204" pitchFamily="34" charset="0"/>
              </a:rPr>
              <a:t> </a:t>
            </a:r>
            <a:r>
              <a:rPr lang="en-US" sz="2900" dirty="0">
                <a:latin typeface="Arial Rounded MT Bold" panose="020F0704030504030204" pitchFamily="34" charset="0"/>
              </a:rPr>
              <a:t>consistently showed a spike across most transaction types — likely due to festival season and year-end offers</a:t>
            </a:r>
            <a:r>
              <a:rPr lang="en-US" sz="2000" dirty="0">
                <a:latin typeface="Arial Rounded MT Bold" panose="020F0704030504030204" pitchFamily="34" charset="0"/>
              </a:rPr>
              <a:t>.</a:t>
            </a:r>
          </a:p>
          <a:p>
            <a:pPr algn="just"/>
            <a:endParaRPr lang="en-US" sz="2000" dirty="0">
              <a:latin typeface="Arial Rounded MT Bold" panose="020F0704030504030204" pitchFamily="34" charset="0"/>
            </a:endParaRPr>
          </a:p>
          <a:p>
            <a:pPr marL="0" indent="0">
              <a:buNone/>
            </a:pPr>
            <a:endParaRPr sz="2000" dirty="0">
              <a:latin typeface="Arial Rounded MT Bold" panose="020F07040305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Case Study 2: Device Dominance Analysis</a:t>
            </a:r>
          </a:p>
        </p:txBody>
      </p:sp>
      <p:sp>
        <p:nvSpPr>
          <p:cNvPr id="3" name="Content Placeholder 2"/>
          <p:cNvSpPr>
            <a:spLocks noGrp="1"/>
          </p:cNvSpPr>
          <p:nvPr>
            <p:ph idx="1"/>
          </p:nvPr>
        </p:nvSpPr>
        <p:spPr>
          <a:xfrm>
            <a:off x="721506" y="2428764"/>
            <a:ext cx="7524003" cy="3636510"/>
          </a:xfrm>
        </p:spPr>
        <p:txBody>
          <a:bodyPr>
            <a:normAutofit fontScale="85000" lnSpcReduction="20000"/>
          </a:bodyPr>
          <a:lstStyle/>
          <a:p>
            <a:pPr marL="0" marR="0" lvl="0" indent="0" algn="just" defTabSz="914400" rtl="0" eaLnBrk="0" fontAlgn="base" latinLnBrk="0" hangingPunct="0">
              <a:lnSpc>
                <a:spcPct val="100000"/>
              </a:lnSpc>
              <a:spcBef>
                <a:spcPct val="0"/>
              </a:spcBef>
              <a:spcAft>
                <a:spcPct val="0"/>
              </a:spcAft>
              <a:buClrTx/>
              <a:buSzTx/>
              <a:buNone/>
              <a:tabLst/>
            </a:pPr>
            <a:r>
              <a:rPr lang="en-US" sz="1900" b="1" u="sng" dirty="0">
                <a:latin typeface="Arial Rounded MT Bold" panose="020F0704030504030204" pitchFamily="34" charset="0"/>
              </a:rPr>
              <a:t>Scenario</a:t>
            </a:r>
            <a:r>
              <a:rPr lang="en-US" sz="1900" b="1" dirty="0">
                <a:latin typeface="Arial Rounded MT Bold" panose="020F0704030504030204" pitchFamily="34" charset="0"/>
              </a:rPr>
              <a:t>:</a:t>
            </a:r>
            <a:br>
              <a:rPr lang="en-US" sz="1900" dirty="0">
                <a:latin typeface="Arial Rounded MT Bold" panose="020F0704030504030204" pitchFamily="34" charset="0"/>
              </a:rPr>
            </a:br>
            <a:r>
              <a:rPr lang="en-US" sz="1900" dirty="0" err="1">
                <a:latin typeface="Arial Rounded MT Bold" panose="020F0704030504030204" pitchFamily="34" charset="0"/>
              </a:rPr>
              <a:t>PhonePe</a:t>
            </a:r>
            <a:r>
              <a:rPr lang="en-US" sz="1900" dirty="0">
                <a:latin typeface="Arial Rounded MT Bold" panose="020F0704030504030204" pitchFamily="34" charset="0"/>
              </a:rPr>
              <a:t> is analyzing user engagement patterns based on </a:t>
            </a:r>
            <a:r>
              <a:rPr lang="en-US" sz="1900" b="1" dirty="0">
                <a:latin typeface="Arial Rounded MT Bold" panose="020F0704030504030204" pitchFamily="34" charset="0"/>
              </a:rPr>
              <a:t>device brands</a:t>
            </a:r>
            <a:r>
              <a:rPr lang="en-US" sz="1900" dirty="0">
                <a:latin typeface="Arial Rounded MT Bold" panose="020F0704030504030204" pitchFamily="34" charset="0"/>
              </a:rPr>
              <a:t>. The objective is to identify which devices have high registrations but low engagement and understand regional trends in device usage.</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dirty="0"/>
          </a:p>
          <a:p>
            <a:pPr marL="0" marR="0" lvl="0" indent="0" algn="just" defTabSz="914400" rtl="0" eaLnBrk="0" fontAlgn="base" latinLnBrk="0" hangingPunct="0">
              <a:lnSpc>
                <a:spcPct val="100000"/>
              </a:lnSpc>
              <a:spcBef>
                <a:spcPct val="0"/>
              </a:spcBef>
              <a:spcAft>
                <a:spcPct val="0"/>
              </a:spcAft>
              <a:buClrTx/>
              <a:buSzTx/>
              <a:buNone/>
              <a:tabLst/>
            </a:pPr>
            <a:r>
              <a:rPr lang="en-US" sz="1900" u="sng" dirty="0">
                <a:latin typeface="Arial Rounded MT Bold" panose="020F0704030504030204" pitchFamily="34" charset="0"/>
              </a:rPr>
              <a:t>Key – Insights</a:t>
            </a:r>
            <a:r>
              <a:rPr lang="en-US" sz="1900" dirty="0">
                <a:latin typeface="Arial Rounded MT Bold" panose="020F070403050403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lang="en-US" sz="1900" dirty="0">
              <a:latin typeface="Arial Rounded MT Bold" panose="020F07040305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Rounded MT Bold" panose="020F0704030504030204" pitchFamily="34" charset="0"/>
              </a:rPr>
              <a:t> </a:t>
            </a:r>
            <a:r>
              <a:rPr kumimoji="0" lang="en-US" altLang="en-US" sz="1900" b="1" i="0" u="none" strike="noStrike" cap="none" normalizeH="0" baseline="0" dirty="0">
                <a:ln>
                  <a:noFill/>
                </a:ln>
                <a:solidFill>
                  <a:srgbClr val="00B0F0"/>
                </a:solidFill>
                <a:effectLst/>
                <a:latin typeface="Arial Rounded MT Bold" panose="020F0704030504030204" pitchFamily="34" charset="0"/>
              </a:rPr>
              <a:t>Xiaomi</a:t>
            </a:r>
            <a:r>
              <a:rPr kumimoji="0" lang="en-US" altLang="en-US" sz="1900" b="0" i="0" u="none" strike="noStrike" cap="none" normalizeH="0" baseline="0" dirty="0">
                <a:ln>
                  <a:noFill/>
                </a:ln>
                <a:solidFill>
                  <a:srgbClr val="00B0F0"/>
                </a:solidFill>
                <a:effectLst/>
                <a:latin typeface="Arial Rounded MT Bold" panose="020F0704030504030204" pitchFamily="34" charset="0"/>
              </a:rPr>
              <a:t>, </a:t>
            </a:r>
            <a:r>
              <a:rPr kumimoji="0" lang="en-US" altLang="en-US" sz="1900" b="1" i="0" u="none" strike="noStrike" cap="none" normalizeH="0" baseline="0" dirty="0">
                <a:ln>
                  <a:noFill/>
                </a:ln>
                <a:solidFill>
                  <a:srgbClr val="00B0F0"/>
                </a:solidFill>
                <a:effectLst/>
                <a:latin typeface="Arial Rounded MT Bold" panose="020F0704030504030204" pitchFamily="34" charset="0"/>
              </a:rPr>
              <a:t>Samsung</a:t>
            </a:r>
            <a:r>
              <a:rPr kumimoji="0" lang="en-US" altLang="en-US" sz="1900" b="0" i="0" u="none" strike="noStrike" cap="none" normalizeH="0" baseline="0" dirty="0">
                <a:ln>
                  <a:noFill/>
                </a:ln>
                <a:solidFill>
                  <a:srgbClr val="00B0F0"/>
                </a:solidFill>
                <a:effectLst/>
                <a:latin typeface="Arial Rounded MT Bold" panose="020F0704030504030204" pitchFamily="34" charset="0"/>
              </a:rPr>
              <a:t>, and </a:t>
            </a:r>
            <a:r>
              <a:rPr kumimoji="0" lang="en-US" altLang="en-US" sz="1900" b="1" i="0" u="none" strike="noStrike" cap="none" normalizeH="0" baseline="0" dirty="0">
                <a:ln>
                  <a:noFill/>
                </a:ln>
                <a:solidFill>
                  <a:srgbClr val="00B0F0"/>
                </a:solidFill>
                <a:effectLst/>
                <a:latin typeface="Arial Rounded MT Bold" panose="020F0704030504030204" pitchFamily="34" charset="0"/>
              </a:rPr>
              <a:t>Vivo</a:t>
            </a:r>
            <a:r>
              <a:rPr kumimoji="0" lang="en-US" altLang="en-US" sz="1900" b="0" i="0" u="none" strike="noStrike" cap="none" normalizeH="0" baseline="0" dirty="0">
                <a:ln>
                  <a:noFill/>
                </a:ln>
                <a:solidFill>
                  <a:srgbClr val="00B0F0"/>
                </a:solidFill>
                <a:effectLst/>
                <a:latin typeface="Arial Rounded MT Bold" panose="020F0704030504030204" pitchFamily="34" charset="0"/>
              </a:rPr>
              <a:t> </a:t>
            </a:r>
            <a:r>
              <a:rPr kumimoji="0" lang="en-US" altLang="en-US" sz="1900" b="0" i="0" u="none" strike="noStrike" cap="none" normalizeH="0" baseline="0" dirty="0">
                <a:ln>
                  <a:noFill/>
                </a:ln>
                <a:solidFill>
                  <a:schemeClr val="tx1"/>
                </a:solidFill>
                <a:effectLst/>
                <a:latin typeface="Arial Rounded MT Bold" panose="020F0704030504030204" pitchFamily="34" charset="0"/>
              </a:rPr>
              <a:t>dominated the user base across most regions.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900" b="0" i="0" u="none" strike="noStrike" cap="none" normalizeH="0" baseline="0" dirty="0">
              <a:ln>
                <a:noFill/>
              </a:ln>
              <a:solidFill>
                <a:schemeClr val="tx1"/>
              </a:solidFill>
              <a:effectLst/>
              <a:latin typeface="Arial Rounded MT Bold" panose="020F07040305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rgbClr val="00B0F0"/>
                </a:solidFill>
                <a:effectLst/>
                <a:latin typeface="Arial Rounded MT Bold" panose="020F0704030504030204" pitchFamily="34" charset="0"/>
              </a:rPr>
              <a:t>Apple</a:t>
            </a:r>
            <a:r>
              <a:rPr kumimoji="0" lang="en-US" altLang="en-US" sz="1900" b="0" i="0" u="none" strike="noStrike" cap="none" normalizeH="0" baseline="0" dirty="0">
                <a:ln>
                  <a:noFill/>
                </a:ln>
                <a:solidFill>
                  <a:schemeClr val="tx1"/>
                </a:solidFill>
                <a:effectLst/>
                <a:latin typeface="Arial Rounded MT Bold" panose="020F0704030504030204" pitchFamily="34" charset="0"/>
              </a:rPr>
              <a:t> users, though smaller in number, showed </a:t>
            </a:r>
            <a:r>
              <a:rPr kumimoji="0" lang="en-US" altLang="en-US" sz="1900" b="1" i="0" u="none" strike="noStrike" cap="none" normalizeH="0" baseline="0" dirty="0">
                <a:ln>
                  <a:noFill/>
                </a:ln>
                <a:solidFill>
                  <a:schemeClr val="tx1"/>
                </a:solidFill>
                <a:effectLst/>
                <a:latin typeface="Arial Rounded MT Bold" panose="020F0704030504030204" pitchFamily="34" charset="0"/>
              </a:rPr>
              <a:t>higher app opens per user</a:t>
            </a:r>
            <a:r>
              <a:rPr kumimoji="0" lang="en-US" altLang="en-US" sz="1900" b="0" i="0" u="none" strike="noStrike" cap="none" normalizeH="0" baseline="0" dirty="0">
                <a:ln>
                  <a:noFill/>
                </a:ln>
                <a:solidFill>
                  <a:schemeClr val="tx1"/>
                </a:solidFill>
                <a:effectLst/>
                <a:latin typeface="Arial Rounded MT Bold" panose="020F0704030504030204" pitchFamily="34" charset="0"/>
              </a:rPr>
              <a:t> – indicating deeper engagement.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900" b="0" i="0" u="none" strike="noStrike" cap="none" normalizeH="0" baseline="0" dirty="0">
              <a:ln>
                <a:noFill/>
              </a:ln>
              <a:solidFill>
                <a:schemeClr val="tx1"/>
              </a:solidFill>
              <a:effectLst/>
              <a:latin typeface="Arial Rounded MT Bold" panose="020F07040305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Rounded MT Bold" panose="020F0704030504030204" pitchFamily="34" charset="0"/>
              </a:rPr>
              <a:t>In </a:t>
            </a:r>
            <a:r>
              <a:rPr kumimoji="0" lang="en-US" altLang="en-US" sz="1900" b="1" i="0" u="none" strike="noStrike" cap="none" normalizeH="0" baseline="0" dirty="0">
                <a:ln>
                  <a:noFill/>
                </a:ln>
                <a:solidFill>
                  <a:schemeClr val="tx1"/>
                </a:solidFill>
                <a:effectLst/>
                <a:latin typeface="Arial Rounded MT Bold" panose="020F0704030504030204" pitchFamily="34" charset="0"/>
              </a:rPr>
              <a:t>Northeast India</a:t>
            </a:r>
            <a:r>
              <a:rPr kumimoji="0" lang="en-US" altLang="en-US" sz="1900" b="0" i="0" u="none" strike="noStrike" cap="none" normalizeH="0" baseline="0" dirty="0">
                <a:ln>
                  <a:noFill/>
                </a:ln>
                <a:solidFill>
                  <a:schemeClr val="tx1"/>
                </a:solidFill>
                <a:effectLst/>
                <a:latin typeface="Arial Rounded MT Bold" panose="020F0704030504030204" pitchFamily="34" charset="0"/>
              </a:rPr>
              <a:t>, devices like </a:t>
            </a:r>
            <a:r>
              <a:rPr kumimoji="0" lang="en-US" altLang="en-US" sz="1900" b="1" i="0" u="none" strike="noStrike" cap="none" normalizeH="0" baseline="0" dirty="0" err="1">
                <a:ln>
                  <a:noFill/>
                </a:ln>
                <a:solidFill>
                  <a:srgbClr val="00B0F0"/>
                </a:solidFill>
                <a:effectLst/>
                <a:latin typeface="Arial Rounded MT Bold" panose="020F0704030504030204" pitchFamily="34" charset="0"/>
              </a:rPr>
              <a:t>Infinix</a:t>
            </a:r>
            <a:r>
              <a:rPr kumimoji="0" lang="en-US" altLang="en-US" sz="1900" b="0" i="0" u="none" strike="noStrike" cap="none" normalizeH="0" baseline="0" dirty="0">
                <a:ln>
                  <a:noFill/>
                </a:ln>
                <a:solidFill>
                  <a:srgbClr val="00B0F0"/>
                </a:solidFill>
                <a:effectLst/>
                <a:latin typeface="Arial Rounded MT Bold" panose="020F0704030504030204" pitchFamily="34" charset="0"/>
              </a:rPr>
              <a:t> and </a:t>
            </a:r>
            <a:r>
              <a:rPr kumimoji="0" lang="en-US" altLang="en-US" sz="1900" b="1" i="0" u="none" strike="noStrike" cap="none" normalizeH="0" baseline="0" dirty="0">
                <a:ln>
                  <a:noFill/>
                </a:ln>
                <a:solidFill>
                  <a:srgbClr val="00B0F0"/>
                </a:solidFill>
                <a:effectLst/>
                <a:latin typeface="Arial Rounded MT Bold" panose="020F0704030504030204" pitchFamily="34" charset="0"/>
              </a:rPr>
              <a:t>Micromax</a:t>
            </a:r>
            <a:r>
              <a:rPr kumimoji="0" lang="en-US" altLang="en-US" sz="1900" b="0" i="0" u="none" strike="noStrike" cap="none" normalizeH="0" baseline="0" dirty="0">
                <a:ln>
                  <a:noFill/>
                </a:ln>
                <a:solidFill>
                  <a:srgbClr val="00B0F0"/>
                </a:solidFill>
                <a:effectLst/>
                <a:latin typeface="Arial Rounded MT Bold" panose="020F0704030504030204" pitchFamily="34" charset="0"/>
              </a:rPr>
              <a:t> </a:t>
            </a:r>
            <a:r>
              <a:rPr kumimoji="0" lang="en-US" altLang="en-US" sz="1900" b="0" i="0" u="none" strike="noStrike" cap="none" normalizeH="0" baseline="0" dirty="0">
                <a:ln>
                  <a:noFill/>
                </a:ln>
                <a:solidFill>
                  <a:schemeClr val="tx1"/>
                </a:solidFill>
                <a:effectLst/>
                <a:latin typeface="Arial Rounded MT Bold" panose="020F0704030504030204" pitchFamily="34" charset="0"/>
              </a:rPr>
              <a:t>had relatively high registrations but very </a:t>
            </a:r>
            <a:r>
              <a:rPr kumimoji="0" lang="en-US" altLang="en-US" sz="1900" b="1" i="0" u="none" strike="noStrike" cap="none" normalizeH="0" baseline="0" dirty="0">
                <a:ln>
                  <a:noFill/>
                </a:ln>
                <a:solidFill>
                  <a:schemeClr val="tx1"/>
                </a:solidFill>
                <a:effectLst/>
                <a:latin typeface="Arial Rounded MT Bold" panose="020F0704030504030204" pitchFamily="34" charset="0"/>
              </a:rPr>
              <a:t>low engagement</a:t>
            </a:r>
            <a:r>
              <a:rPr kumimoji="0" lang="en-US" altLang="en-US" sz="1900" b="0" i="0" u="none" strike="noStrike" cap="none" normalizeH="0" baseline="0" dirty="0">
                <a:ln>
                  <a:noFill/>
                </a:ln>
                <a:solidFill>
                  <a:schemeClr val="tx1"/>
                </a:solidFill>
                <a:effectLst/>
                <a:latin typeface="Arial Rounded MT Bold" panose="020F070403050403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900" b="0" i="0" u="none" strike="noStrike" cap="none" normalizeH="0" baseline="0" dirty="0">
              <a:ln>
                <a:noFill/>
              </a:ln>
              <a:solidFill>
                <a:schemeClr val="tx1"/>
              </a:solidFill>
              <a:effectLst/>
              <a:latin typeface="Arial Rounded MT Bold" panose="020F07040305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Arial Rounded MT Bold" panose="020F0704030504030204" pitchFamily="34" charset="0"/>
              </a:rPr>
              <a:t>Urban states</a:t>
            </a:r>
            <a:r>
              <a:rPr kumimoji="0" lang="en-US" altLang="en-US" sz="1900" b="0" i="0" u="none" strike="noStrike" cap="none" normalizeH="0" baseline="0" dirty="0">
                <a:ln>
                  <a:noFill/>
                </a:ln>
                <a:solidFill>
                  <a:schemeClr val="tx1"/>
                </a:solidFill>
                <a:effectLst/>
                <a:latin typeface="Arial Rounded MT Bold" panose="020F0704030504030204" pitchFamily="34" charset="0"/>
              </a:rPr>
              <a:t> like </a:t>
            </a:r>
            <a:r>
              <a:rPr kumimoji="0" lang="en-US" altLang="en-US" sz="1900" b="0" i="0" u="none" strike="noStrike" cap="none" normalizeH="0" baseline="0" dirty="0">
                <a:ln>
                  <a:noFill/>
                </a:ln>
                <a:solidFill>
                  <a:srgbClr val="00B0F0"/>
                </a:solidFill>
                <a:effectLst/>
                <a:latin typeface="Arial Rounded MT Bold" panose="020F0704030504030204" pitchFamily="34" charset="0"/>
              </a:rPr>
              <a:t>Maharashtra and Karnataka </a:t>
            </a:r>
            <a:r>
              <a:rPr kumimoji="0" lang="en-US" altLang="en-US" sz="1900" b="0" i="0" u="none" strike="noStrike" cap="none" normalizeH="0" baseline="0" dirty="0">
                <a:ln>
                  <a:noFill/>
                </a:ln>
                <a:solidFill>
                  <a:schemeClr val="tx1"/>
                </a:solidFill>
                <a:effectLst/>
                <a:latin typeface="Arial Rounded MT Bold" panose="020F0704030504030204" pitchFamily="34" charset="0"/>
              </a:rPr>
              <a:t>showed </a:t>
            </a:r>
            <a:r>
              <a:rPr kumimoji="0" lang="en-US" altLang="en-US" sz="1900" b="1" i="0" u="none" strike="noStrike" cap="none" normalizeH="0" baseline="0" dirty="0">
                <a:ln>
                  <a:noFill/>
                </a:ln>
                <a:solidFill>
                  <a:schemeClr val="tx1"/>
                </a:solidFill>
                <a:effectLst/>
                <a:latin typeface="Arial Rounded MT Bold" panose="020F0704030504030204" pitchFamily="34" charset="0"/>
              </a:rPr>
              <a:t>diverse device usage</a:t>
            </a:r>
            <a:r>
              <a:rPr kumimoji="0" lang="en-US" altLang="en-US" sz="1900" b="0" i="0" u="none" strike="noStrike" cap="none" normalizeH="0" baseline="0" dirty="0">
                <a:ln>
                  <a:noFill/>
                </a:ln>
                <a:solidFill>
                  <a:schemeClr val="tx1"/>
                </a:solidFill>
                <a:effectLst/>
                <a:latin typeface="Arial Rounded MT Bold" panose="020F0704030504030204" pitchFamily="34" charset="0"/>
              </a:rPr>
              <a:t>, while </a:t>
            </a:r>
            <a:r>
              <a:rPr kumimoji="0" lang="en-US" altLang="en-US" sz="1900" b="1" i="0" u="none" strike="noStrike" cap="none" normalizeH="0" baseline="0" dirty="0">
                <a:ln>
                  <a:noFill/>
                </a:ln>
                <a:solidFill>
                  <a:schemeClr val="tx1"/>
                </a:solidFill>
                <a:effectLst/>
                <a:latin typeface="Arial Rounded MT Bold" panose="020F0704030504030204" pitchFamily="34" charset="0"/>
              </a:rPr>
              <a:t>rural states</a:t>
            </a:r>
            <a:r>
              <a:rPr kumimoji="0" lang="en-US" altLang="en-US" sz="1900" b="0" i="0" u="none" strike="noStrike" cap="none" normalizeH="0" baseline="0" dirty="0">
                <a:ln>
                  <a:noFill/>
                </a:ln>
                <a:solidFill>
                  <a:schemeClr val="tx1"/>
                </a:solidFill>
                <a:effectLst/>
                <a:latin typeface="Arial Rounded MT Bold" panose="020F0704030504030204" pitchFamily="34" charset="0"/>
              </a:rPr>
              <a:t> were heavily skewed toward 2–3 brands</a:t>
            </a:r>
            <a:endParaRPr lang="en-US" sz="1900" dirty="0">
              <a:latin typeface="Arial Rounded MT Bold" panose="020F0704030504030204" pitchFamily="34" charset="0"/>
            </a:endParaRP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997" y="584840"/>
            <a:ext cx="7524003" cy="970450"/>
          </a:xfrm>
        </p:spPr>
        <p:txBody>
          <a:bodyPr/>
          <a:lstStyle/>
          <a:p>
            <a:r>
              <a:rPr sz="4400" b="0" dirty="0">
                <a:solidFill>
                  <a:schemeClr val="bg2"/>
                </a:solidFill>
                <a:latin typeface="Aptos" panose="020B0004020202020204" pitchFamily="34" charset="0"/>
              </a:rPr>
              <a:t>Case Study 3 &amp; 4: Insurance &amp; Market Expansion</a:t>
            </a:r>
          </a:p>
        </p:txBody>
      </p:sp>
      <p:sp>
        <p:nvSpPr>
          <p:cNvPr id="3" name="Content Placeholder 2"/>
          <p:cNvSpPr>
            <a:spLocks noGrp="1"/>
          </p:cNvSpPr>
          <p:nvPr>
            <p:ph idx="1"/>
          </p:nvPr>
        </p:nvSpPr>
        <p:spPr>
          <a:xfrm>
            <a:off x="554358" y="2881048"/>
            <a:ext cx="7524003" cy="3636510"/>
          </a:xfrm>
        </p:spPr>
        <p:txBody>
          <a:bodyPr>
            <a:normAutofit fontScale="92500" lnSpcReduction="20000"/>
          </a:bodyPr>
          <a:lstStyle/>
          <a:p>
            <a:pPr marL="0" marR="0" lvl="0" indent="0" algn="ctr" defTabSz="914400" rtl="0" eaLnBrk="0" fontAlgn="base" latinLnBrk="0" hangingPunct="0">
              <a:lnSpc>
                <a:spcPct val="100000"/>
              </a:lnSpc>
              <a:spcBef>
                <a:spcPct val="0"/>
              </a:spcBef>
              <a:spcAft>
                <a:spcPct val="0"/>
              </a:spcAft>
              <a:buClrTx/>
              <a:buSzTx/>
              <a:buNone/>
              <a:tabLst/>
            </a:pPr>
            <a:r>
              <a:rPr lang="en-US" sz="1700" b="1" u="sng" dirty="0">
                <a:latin typeface="Arial Rounded MT Bold" panose="020F0704030504030204" pitchFamily="34" charset="0"/>
              </a:rPr>
              <a:t>Scenario: </a:t>
            </a:r>
          </a:p>
          <a:p>
            <a:pPr marL="0" marR="0" lvl="0" indent="0" algn="just" defTabSz="914400" rtl="0" eaLnBrk="0" fontAlgn="base" latinLnBrk="0" hangingPunct="0">
              <a:lnSpc>
                <a:spcPct val="100000"/>
              </a:lnSpc>
              <a:spcBef>
                <a:spcPct val="0"/>
              </a:spcBef>
              <a:spcAft>
                <a:spcPct val="0"/>
              </a:spcAft>
              <a:buClrTx/>
              <a:buSzTx/>
              <a:buNone/>
              <a:tabLst/>
            </a:pPr>
            <a:r>
              <a:rPr lang="en-US" sz="1700" dirty="0">
                <a:latin typeface="Arial Rounded MT Bold" panose="020F0704030504030204" pitchFamily="34" charset="0"/>
              </a:rPr>
              <a:t>By identifying high-performing and underpenetrated regions, the company can tailor strategies for marketing, partnerships, and expansion. The analysis focuses on transaction volumes, user behavior, and regional adoption trends. These insights will help prioritize areas for business growth and resource allocation.</a:t>
            </a:r>
            <a:r>
              <a:rPr kumimoji="0" lang="en-US" altLang="en-US" sz="1700" b="1" i="0" u="none" strike="noStrike" cap="none" normalizeH="0" baseline="0" dirty="0">
                <a:ln>
                  <a:noFill/>
                </a:ln>
                <a:solidFill>
                  <a:schemeClr val="tx1"/>
                </a:solidFill>
                <a:effectLst/>
                <a:latin typeface="Arial Rounded MT Bold" panose="020F070403050403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700" b="1" i="0" u="none" strike="noStrike" cap="none" normalizeH="0" baseline="0" dirty="0">
              <a:ln>
                <a:noFill/>
              </a:ln>
              <a:solidFill>
                <a:schemeClr val="tx1"/>
              </a:solidFill>
              <a:effectLst/>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Arial" panose="020B0604020202020204" pitchFamily="34" charset="0"/>
              </a:rPr>
              <a:t> </a:t>
            </a:r>
            <a:r>
              <a:rPr lang="en-US" altLang="en-US" b="1" u="sng" dirty="0">
                <a:latin typeface="Arial Rounded MT Bold" panose="020F0704030504030204" pitchFamily="34" charset="0"/>
              </a:rPr>
              <a:t>Key – insights</a:t>
            </a:r>
            <a:r>
              <a:rPr lang="en-US" altLang="en-US" b="1" dirty="0">
                <a:latin typeface="Arial" panose="020B0604020202020204" pitchFamily="34" charset="0"/>
              </a:rPr>
              <a:t>:</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B0F0"/>
                </a:solidFill>
                <a:effectLst/>
                <a:latin typeface="Arial Rounded MT Bold" panose="020F0704030504030204" pitchFamily="34" charset="0"/>
              </a:rPr>
              <a:t>High insurance transactions</a:t>
            </a:r>
            <a:r>
              <a:rPr kumimoji="0" lang="en-US" altLang="en-US" sz="1800" b="0" i="0" u="none" strike="noStrike" cap="none" normalizeH="0" baseline="0" dirty="0">
                <a:ln>
                  <a:noFill/>
                </a:ln>
                <a:solidFill>
                  <a:srgbClr val="00B0F0"/>
                </a:solidFill>
                <a:effectLst/>
                <a:latin typeface="Arial Rounded MT Bold" panose="020F0704030504030204" pitchFamily="34" charset="0"/>
              </a:rPr>
              <a:t> </a:t>
            </a:r>
            <a:r>
              <a:rPr kumimoji="0" lang="en-US" altLang="en-US" sz="1800" b="0" i="0" u="none" strike="noStrike" cap="none" normalizeH="0" baseline="0" dirty="0">
                <a:ln>
                  <a:noFill/>
                </a:ln>
                <a:solidFill>
                  <a:schemeClr val="tx1"/>
                </a:solidFill>
                <a:effectLst/>
                <a:latin typeface="Arial Rounded MT Bold" panose="020F0704030504030204" pitchFamily="34" charset="0"/>
              </a:rPr>
              <a:t>are concentrated in a few urban states, while many rural or semi-urban states show low adoption, revealing untapped potential.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Rounded MT Bold" panose="020F0704030504030204" pitchFamily="34" charset="0"/>
              </a:rPr>
              <a:t>States like </a:t>
            </a:r>
            <a:r>
              <a:rPr kumimoji="0" lang="en-US" altLang="en-US" sz="1800" b="1" i="0" u="none" strike="noStrike" cap="none" normalizeH="0" baseline="0" dirty="0">
                <a:ln>
                  <a:noFill/>
                </a:ln>
                <a:solidFill>
                  <a:srgbClr val="00B0F0"/>
                </a:solidFill>
                <a:effectLst/>
                <a:latin typeface="Arial Rounded MT Bold" panose="020F0704030504030204" pitchFamily="34" charset="0"/>
              </a:rPr>
              <a:t>Maharashtra, Karnataka, and Tamil Nadu</a:t>
            </a:r>
            <a:r>
              <a:rPr kumimoji="0" lang="en-US" altLang="en-US" sz="1800" b="0" i="0" u="none" strike="noStrike" cap="none" normalizeH="0" baseline="0" dirty="0">
                <a:ln>
                  <a:noFill/>
                </a:ln>
                <a:solidFill>
                  <a:srgbClr val="00B0F0"/>
                </a:solidFill>
                <a:effectLst/>
                <a:latin typeface="Arial Rounded MT Bold" panose="020F0704030504030204" pitchFamily="34" charset="0"/>
              </a:rPr>
              <a:t> </a:t>
            </a:r>
            <a:r>
              <a:rPr kumimoji="0" lang="en-US" altLang="en-US" sz="1800" b="0" i="0" u="none" strike="noStrike" cap="none" normalizeH="0" baseline="0" dirty="0">
                <a:ln>
                  <a:noFill/>
                </a:ln>
                <a:solidFill>
                  <a:schemeClr val="tx1"/>
                </a:solidFill>
                <a:effectLst/>
                <a:latin typeface="Arial Rounded MT Bold" panose="020F0704030504030204" pitchFamily="34" charset="0"/>
              </a:rPr>
              <a:t>show consistent growth in both overall transactions and insurance-related services.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B0F0"/>
                </a:solidFill>
                <a:effectLst/>
                <a:latin typeface="Arial Rounded MT Bold" panose="020F0704030504030204" pitchFamily="34" charset="0"/>
              </a:rPr>
              <a:t>Northeastern and smaller states</a:t>
            </a:r>
            <a:r>
              <a:rPr kumimoji="0" lang="en-US" altLang="en-US" sz="1800" b="0" i="0" u="none" strike="noStrike" cap="none" normalizeH="0" baseline="0" dirty="0">
                <a:ln>
                  <a:noFill/>
                </a:ln>
                <a:solidFill>
                  <a:srgbClr val="00B0F0"/>
                </a:solidFill>
                <a:effectLst/>
                <a:latin typeface="Arial Rounded MT Bold" panose="020F0704030504030204" pitchFamily="34" charset="0"/>
              </a:rPr>
              <a:t> reflect </a:t>
            </a:r>
            <a:r>
              <a:rPr kumimoji="0" lang="en-US" altLang="en-US" sz="1800" b="0" i="0" u="none" strike="noStrike" cap="none" normalizeH="0" baseline="0" dirty="0">
                <a:ln>
                  <a:noFill/>
                </a:ln>
                <a:solidFill>
                  <a:schemeClr val="tx1"/>
                </a:solidFill>
                <a:effectLst/>
                <a:latin typeface="Arial Rounded MT Bold" panose="020F0704030504030204" pitchFamily="34" charset="0"/>
              </a:rPr>
              <a:t>low transaction density, indicating a need for awareness campaigns and strategic entry.</a:t>
            </a:r>
          </a:p>
          <a:p>
            <a:endParaRPr lang="en-US" dirty="0">
              <a:latin typeface="Arial Rounded MT Bold" panose="020F0704030504030204" pitchFamily="34" charset="0"/>
            </a:endParaRP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Case Study 5–9: Engagement &amp; State Insights</a:t>
            </a:r>
          </a:p>
        </p:txBody>
      </p:sp>
      <p:sp>
        <p:nvSpPr>
          <p:cNvPr id="3" name="Content Placeholder 2"/>
          <p:cNvSpPr>
            <a:spLocks noGrp="1"/>
          </p:cNvSpPr>
          <p:nvPr>
            <p:ph idx="1"/>
          </p:nvPr>
        </p:nvSpPr>
        <p:spPr>
          <a:xfrm>
            <a:off x="341799" y="2449838"/>
            <a:ext cx="7992201" cy="3960974"/>
          </a:xfrm>
        </p:spPr>
        <p:txBody>
          <a:bodyPr>
            <a:normAutofit fontScale="40000" lnSpcReduction="20000"/>
          </a:bodyPr>
          <a:lstStyle/>
          <a:p>
            <a:pPr algn="just">
              <a:buNone/>
            </a:pPr>
            <a:r>
              <a:rPr lang="en-US" sz="3800" b="1" u="sng" dirty="0">
                <a:latin typeface="Arial" panose="020B0604020202020204" pitchFamily="34" charset="0"/>
                <a:cs typeface="Arial" panose="020B0604020202020204" pitchFamily="34" charset="0"/>
              </a:rPr>
              <a:t>Scenario:</a:t>
            </a:r>
          </a:p>
          <a:p>
            <a:pPr marL="0" indent="0" algn="just">
              <a:buNone/>
            </a:pPr>
            <a:r>
              <a:rPr lang="en-US" sz="3800" dirty="0" err="1">
                <a:latin typeface="Arial" panose="020B0604020202020204" pitchFamily="34" charset="0"/>
                <a:cs typeface="Arial" panose="020B0604020202020204" pitchFamily="34" charset="0"/>
              </a:rPr>
              <a:t>PhonePe</a:t>
            </a:r>
            <a:r>
              <a:rPr lang="en-US" sz="3800" dirty="0">
                <a:latin typeface="Arial" panose="020B0604020202020204" pitchFamily="34" charset="0"/>
                <a:cs typeface="Arial" panose="020B0604020202020204" pitchFamily="34" charset="0"/>
              </a:rPr>
              <a:t> conducted a multi-dimensional analysis focusing on </a:t>
            </a:r>
            <a:r>
              <a:rPr lang="en-US" sz="3800" b="1" dirty="0">
                <a:latin typeface="Arial" panose="020B0604020202020204" pitchFamily="34" charset="0"/>
                <a:cs typeface="Arial" panose="020B0604020202020204" pitchFamily="34" charset="0"/>
              </a:rPr>
              <a:t>user engagement, registration trends, transaction activity, and insurance service adoption</a:t>
            </a:r>
            <a:r>
              <a:rPr lang="en-US" sz="3800" dirty="0">
                <a:latin typeface="Arial" panose="020B0604020202020204" pitchFamily="34" charset="0"/>
                <a:cs typeface="Arial" panose="020B0604020202020204" pitchFamily="34" charset="0"/>
              </a:rPr>
              <a:t> across various geographic and temporal segments. These insights aim to guide strategic growth, user targeting, and service optimization.</a:t>
            </a:r>
          </a:p>
          <a:p>
            <a:pPr algn="just"/>
            <a:endParaRPr lang="en-US" sz="3800" dirty="0">
              <a:latin typeface="Arial" panose="020B0604020202020204" pitchFamily="34" charset="0"/>
              <a:cs typeface="Arial" panose="020B0604020202020204" pitchFamily="34" charset="0"/>
            </a:endParaRPr>
          </a:p>
          <a:p>
            <a:pPr algn="just">
              <a:buNone/>
            </a:pPr>
            <a:r>
              <a:rPr lang="en-US" sz="3800" b="1" u="sng" dirty="0">
                <a:latin typeface="Arial" panose="020B0604020202020204" pitchFamily="34" charset="0"/>
                <a:cs typeface="Arial" panose="020B0604020202020204" pitchFamily="34" charset="0"/>
              </a:rPr>
              <a:t>Insights:</a:t>
            </a:r>
          </a:p>
          <a:p>
            <a:pPr algn="just">
              <a:buFont typeface="Arial" panose="020B0604020202020204" pitchFamily="34" charset="0"/>
              <a:buChar char="•"/>
            </a:pPr>
            <a:r>
              <a:rPr lang="en-US" sz="3800" b="1" dirty="0">
                <a:latin typeface="Arial" panose="020B0604020202020204" pitchFamily="34" charset="0"/>
                <a:cs typeface="Arial" panose="020B0604020202020204" pitchFamily="34" charset="0"/>
              </a:rPr>
              <a:t>States like </a:t>
            </a:r>
            <a:r>
              <a:rPr lang="en-US" sz="3800" b="1" dirty="0">
                <a:solidFill>
                  <a:srgbClr val="00B0F0"/>
                </a:solidFill>
                <a:latin typeface="Arial" panose="020B0604020202020204" pitchFamily="34" charset="0"/>
                <a:cs typeface="Arial" panose="020B0604020202020204" pitchFamily="34" charset="0"/>
              </a:rPr>
              <a:t>Maharashtra, Karnataka, and Uttar Pradesh</a:t>
            </a:r>
            <a:r>
              <a:rPr lang="en-US" sz="3800" dirty="0">
                <a:solidFill>
                  <a:srgbClr val="00B0F0"/>
                </a:solidFill>
                <a:latin typeface="Arial" panose="020B0604020202020204" pitchFamily="34" charset="0"/>
                <a:cs typeface="Arial" panose="020B0604020202020204" pitchFamily="34" charset="0"/>
              </a:rPr>
              <a:t> </a:t>
            </a:r>
            <a:r>
              <a:rPr lang="en-US" sz="3800" dirty="0">
                <a:latin typeface="Arial" panose="020B0604020202020204" pitchFamily="34" charset="0"/>
                <a:cs typeface="Arial" panose="020B0604020202020204" pitchFamily="34" charset="0"/>
              </a:rPr>
              <a:t>show consistently high user registration, app opens, and transaction volumes.</a:t>
            </a:r>
          </a:p>
          <a:p>
            <a:pPr algn="just">
              <a:buFont typeface="Arial" panose="020B0604020202020204" pitchFamily="34" charset="0"/>
              <a:buChar char="•"/>
            </a:pPr>
            <a:r>
              <a:rPr lang="en-US" sz="3800" b="1" dirty="0">
                <a:solidFill>
                  <a:srgbClr val="00B0F0"/>
                </a:solidFill>
                <a:latin typeface="Arial" panose="020B0604020202020204" pitchFamily="34" charset="0"/>
                <a:cs typeface="Arial" panose="020B0604020202020204" pitchFamily="34" charset="0"/>
              </a:rPr>
              <a:t>Tier-2 and Tier-3 </a:t>
            </a:r>
            <a:r>
              <a:rPr lang="en-US" sz="3800" b="1" dirty="0">
                <a:latin typeface="Arial" panose="020B0604020202020204" pitchFamily="34" charset="0"/>
                <a:cs typeface="Arial" panose="020B0604020202020204" pitchFamily="34" charset="0"/>
              </a:rPr>
              <a:t>cities</a:t>
            </a:r>
            <a:r>
              <a:rPr lang="en-US" sz="3800" dirty="0">
                <a:latin typeface="Arial" panose="020B0604020202020204" pitchFamily="34" charset="0"/>
                <a:cs typeface="Arial" panose="020B0604020202020204" pitchFamily="34" charset="0"/>
              </a:rPr>
              <a:t> are emerging as strong contributors to growth, especially in insurance transactions and new user sign-ups.</a:t>
            </a:r>
          </a:p>
          <a:p>
            <a:pPr algn="just">
              <a:buFont typeface="Arial" panose="020B0604020202020204" pitchFamily="34" charset="0"/>
              <a:buChar char="•"/>
            </a:pPr>
            <a:r>
              <a:rPr lang="en-US" sz="3800" dirty="0">
                <a:latin typeface="Arial" panose="020B0604020202020204" pitchFamily="34" charset="0"/>
                <a:cs typeface="Arial" panose="020B0604020202020204" pitchFamily="34" charset="0"/>
              </a:rPr>
              <a:t>Insurance services are still underutilized in </a:t>
            </a:r>
            <a:r>
              <a:rPr lang="en-US" sz="3800" b="1" dirty="0">
                <a:solidFill>
                  <a:srgbClr val="00B0F0"/>
                </a:solidFill>
                <a:latin typeface="Arial" panose="020B0604020202020204" pitchFamily="34" charset="0"/>
                <a:cs typeface="Arial" panose="020B0604020202020204" pitchFamily="34" charset="0"/>
              </a:rPr>
              <a:t>eastern and northeastern </a:t>
            </a:r>
            <a:r>
              <a:rPr lang="en-US" sz="3800" b="1" dirty="0">
                <a:latin typeface="Arial" panose="020B0604020202020204" pitchFamily="34" charset="0"/>
                <a:cs typeface="Arial" panose="020B0604020202020204" pitchFamily="34" charset="0"/>
              </a:rPr>
              <a:t>states</a:t>
            </a:r>
            <a:r>
              <a:rPr lang="en-US" sz="3800" dirty="0">
                <a:latin typeface="Arial" panose="020B0604020202020204" pitchFamily="34" charset="0"/>
                <a:cs typeface="Arial" panose="020B0604020202020204" pitchFamily="34" charset="0"/>
              </a:rPr>
              <a:t>, indicating potential for focused awareness campaigns.</a:t>
            </a:r>
          </a:p>
          <a:p>
            <a:pPr algn="just">
              <a:buFont typeface="Arial" panose="020B0604020202020204" pitchFamily="34" charset="0"/>
              <a:buChar char="•"/>
            </a:pPr>
            <a:r>
              <a:rPr lang="en-US" sz="3800" dirty="0">
                <a:latin typeface="Arial" panose="020B0604020202020204" pitchFamily="34" charset="0"/>
                <a:cs typeface="Arial" panose="020B0604020202020204" pitchFamily="34" charset="0"/>
              </a:rPr>
              <a:t>Quarterly analysis reveals </a:t>
            </a:r>
            <a:r>
              <a:rPr lang="en-US" sz="3800" b="1" dirty="0">
                <a:solidFill>
                  <a:srgbClr val="00B0F0"/>
                </a:solidFill>
                <a:latin typeface="Arial" panose="020B0604020202020204" pitchFamily="34" charset="0"/>
                <a:cs typeface="Arial" panose="020B0604020202020204" pitchFamily="34" charset="0"/>
              </a:rPr>
              <a:t>seasonal spikes</a:t>
            </a:r>
            <a:r>
              <a:rPr lang="en-US" sz="3800" dirty="0">
                <a:solidFill>
                  <a:srgbClr val="00B0F0"/>
                </a:solidFill>
                <a:latin typeface="Arial" panose="020B0604020202020204" pitchFamily="34" charset="0"/>
                <a:cs typeface="Arial" panose="020B0604020202020204" pitchFamily="34" charset="0"/>
              </a:rPr>
              <a:t> </a:t>
            </a:r>
            <a:r>
              <a:rPr lang="en-US" sz="3800" dirty="0">
                <a:latin typeface="Arial" panose="020B0604020202020204" pitchFamily="34" charset="0"/>
                <a:cs typeface="Arial" panose="020B0604020202020204" pitchFamily="34" charset="0"/>
              </a:rPr>
              <a:t>in app engagement and insurance transactions, suggesting alignment with festive or financial planning cycles.</a:t>
            </a:r>
          </a:p>
          <a:p>
            <a:endParaRPr lang="en-US" sz="2600" dirty="0">
              <a:latin typeface="Arial Rounded MT Bold" panose="020F0704030504030204" pitchFamily="34" charset="0"/>
            </a:endParaRPr>
          </a:p>
          <a:p>
            <a:endParaRPr lang="en-US" sz="1600" dirty="0">
              <a:latin typeface="Arial Rounded MT Bold" panose="020F0704030504030204" pitchFamily="34" charset="0"/>
            </a:endParaRPr>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Dashboard Demo</a:t>
            </a:r>
          </a:p>
        </p:txBody>
      </p:sp>
      <p:sp>
        <p:nvSpPr>
          <p:cNvPr id="3" name="Content Placeholder 2"/>
          <p:cNvSpPr>
            <a:spLocks noGrp="1"/>
          </p:cNvSpPr>
          <p:nvPr>
            <p:ph idx="1"/>
          </p:nvPr>
        </p:nvSpPr>
        <p:spPr>
          <a:xfrm>
            <a:off x="128531" y="755339"/>
            <a:ext cx="7524003" cy="4996532"/>
          </a:xfrm>
        </p:spPr>
        <p:txBody>
          <a:bodyPr/>
          <a:lstStyle/>
          <a:p>
            <a:r>
              <a:rPr sz="1400" dirty="0" err="1">
                <a:latin typeface="Arial Rounded MT Bold" panose="020F0704030504030204" pitchFamily="34" charset="0"/>
              </a:rPr>
              <a:t>Streamlit</a:t>
            </a:r>
            <a:r>
              <a:rPr sz="1400" dirty="0">
                <a:latin typeface="Arial Rounded MT Bold" panose="020F0704030504030204" pitchFamily="34" charset="0"/>
              </a:rPr>
              <a:t> dashboard built to visualize insights interactively.</a:t>
            </a:r>
          </a:p>
          <a:p>
            <a:r>
              <a:rPr sz="1400" dirty="0">
                <a:latin typeface="Arial Rounded MT Bold" panose="020F0704030504030204" pitchFamily="34" charset="0"/>
              </a:rPr>
              <a:t>Includes filters for year, quarter, state.</a:t>
            </a:r>
          </a:p>
          <a:p>
            <a:r>
              <a:rPr sz="1400" dirty="0">
                <a:latin typeface="Arial Rounded MT Bold" panose="020F0704030504030204" pitchFamily="34" charset="0"/>
              </a:rPr>
              <a:t> Charts, maps, and tables for easy exploration</a:t>
            </a:r>
            <a:r>
              <a:rPr dirty="0"/>
              <a:t>.</a:t>
            </a:r>
            <a:endParaRPr lang="en-IN" dirty="0"/>
          </a:p>
          <a:p>
            <a:r>
              <a:rPr lang="en-IN" sz="1400" dirty="0">
                <a:latin typeface="Arial Rounded MT Bold" panose="020F0704030504030204" pitchFamily="34" charset="0"/>
              </a:rPr>
              <a:t>Dashboard screenshots</a:t>
            </a:r>
            <a:r>
              <a:rPr lang="en-IN" dirty="0"/>
              <a:t>:</a:t>
            </a:r>
            <a:endParaRPr dirty="0"/>
          </a:p>
          <a:p>
            <a:pPr marL="0" indent="0">
              <a:buNone/>
            </a:pPr>
            <a:endParaRPr lang="en-IN" dirty="0"/>
          </a:p>
          <a:p>
            <a:endParaRPr dirty="0"/>
          </a:p>
        </p:txBody>
      </p:sp>
      <p:pic>
        <p:nvPicPr>
          <p:cNvPr id="5" name="Picture 4">
            <a:extLst>
              <a:ext uri="{FF2B5EF4-FFF2-40B4-BE49-F238E27FC236}">
                <a16:creationId xmlns:a16="http://schemas.microsoft.com/office/drawing/2014/main" id="{1FE9C351-26F7-9196-CB9D-58BF571B609F}"/>
              </a:ext>
            </a:extLst>
          </p:cNvPr>
          <p:cNvPicPr>
            <a:picLocks noChangeAspect="1"/>
          </p:cNvPicPr>
          <p:nvPr/>
        </p:nvPicPr>
        <p:blipFill>
          <a:blip r:embed="rId2"/>
          <a:stretch>
            <a:fillRect/>
          </a:stretch>
        </p:blipFill>
        <p:spPr>
          <a:xfrm>
            <a:off x="3014608" y="3517490"/>
            <a:ext cx="6000861" cy="3233731"/>
          </a:xfrm>
          <a:prstGeom prst="rect">
            <a:avLst/>
          </a:prstGeom>
        </p:spPr>
      </p:pic>
      <p:pic>
        <p:nvPicPr>
          <p:cNvPr id="7" name="Picture 6">
            <a:extLst>
              <a:ext uri="{FF2B5EF4-FFF2-40B4-BE49-F238E27FC236}">
                <a16:creationId xmlns:a16="http://schemas.microsoft.com/office/drawing/2014/main" id="{F0AF1FED-094C-77C7-0D6F-45088244293A}"/>
              </a:ext>
            </a:extLst>
          </p:cNvPr>
          <p:cNvPicPr>
            <a:picLocks noChangeAspect="1"/>
          </p:cNvPicPr>
          <p:nvPr/>
        </p:nvPicPr>
        <p:blipFill>
          <a:blip r:embed="rId3"/>
          <a:stretch>
            <a:fillRect/>
          </a:stretch>
        </p:blipFill>
        <p:spPr>
          <a:xfrm>
            <a:off x="128531" y="3517490"/>
            <a:ext cx="2772698" cy="32337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684DBF-F2DF-E74C-E39F-B78426AF6789}"/>
              </a:ext>
            </a:extLst>
          </p:cNvPr>
          <p:cNvPicPr>
            <a:picLocks noChangeAspect="1"/>
          </p:cNvPicPr>
          <p:nvPr/>
        </p:nvPicPr>
        <p:blipFill>
          <a:blip r:embed="rId2"/>
          <a:stretch>
            <a:fillRect/>
          </a:stretch>
        </p:blipFill>
        <p:spPr>
          <a:xfrm>
            <a:off x="188207" y="206477"/>
            <a:ext cx="4128153" cy="2875185"/>
          </a:xfrm>
          <a:prstGeom prst="rect">
            <a:avLst/>
          </a:prstGeom>
        </p:spPr>
      </p:pic>
      <p:pic>
        <p:nvPicPr>
          <p:cNvPr id="5" name="Picture 4">
            <a:extLst>
              <a:ext uri="{FF2B5EF4-FFF2-40B4-BE49-F238E27FC236}">
                <a16:creationId xmlns:a16="http://schemas.microsoft.com/office/drawing/2014/main" id="{2D81DBFA-60B9-DBFE-32A9-451184EC21D2}"/>
              </a:ext>
            </a:extLst>
          </p:cNvPr>
          <p:cNvPicPr>
            <a:picLocks noChangeAspect="1"/>
          </p:cNvPicPr>
          <p:nvPr/>
        </p:nvPicPr>
        <p:blipFill>
          <a:blip r:embed="rId3"/>
          <a:stretch>
            <a:fillRect/>
          </a:stretch>
        </p:blipFill>
        <p:spPr>
          <a:xfrm>
            <a:off x="4483510" y="206477"/>
            <a:ext cx="4395019" cy="2875185"/>
          </a:xfrm>
          <a:prstGeom prst="rect">
            <a:avLst/>
          </a:prstGeom>
        </p:spPr>
      </p:pic>
      <p:pic>
        <p:nvPicPr>
          <p:cNvPr id="7" name="Picture 6">
            <a:extLst>
              <a:ext uri="{FF2B5EF4-FFF2-40B4-BE49-F238E27FC236}">
                <a16:creationId xmlns:a16="http://schemas.microsoft.com/office/drawing/2014/main" id="{2E7810C0-25BB-C3B5-22E9-88642755ED63}"/>
              </a:ext>
            </a:extLst>
          </p:cNvPr>
          <p:cNvPicPr>
            <a:picLocks noChangeAspect="1"/>
          </p:cNvPicPr>
          <p:nvPr/>
        </p:nvPicPr>
        <p:blipFill>
          <a:blip r:embed="rId4"/>
          <a:stretch>
            <a:fillRect/>
          </a:stretch>
        </p:blipFill>
        <p:spPr>
          <a:xfrm>
            <a:off x="202608" y="3352800"/>
            <a:ext cx="4113752" cy="3224981"/>
          </a:xfrm>
          <a:prstGeom prst="rect">
            <a:avLst/>
          </a:prstGeom>
        </p:spPr>
      </p:pic>
      <p:pic>
        <p:nvPicPr>
          <p:cNvPr id="9" name="Picture 8">
            <a:extLst>
              <a:ext uri="{FF2B5EF4-FFF2-40B4-BE49-F238E27FC236}">
                <a16:creationId xmlns:a16="http://schemas.microsoft.com/office/drawing/2014/main" id="{B9C140C3-7F10-D5E6-F2CF-C8E9F33D4F16}"/>
              </a:ext>
            </a:extLst>
          </p:cNvPr>
          <p:cNvPicPr>
            <a:picLocks noChangeAspect="1"/>
          </p:cNvPicPr>
          <p:nvPr/>
        </p:nvPicPr>
        <p:blipFill>
          <a:blip r:embed="rId5"/>
          <a:stretch>
            <a:fillRect/>
          </a:stretch>
        </p:blipFill>
        <p:spPr>
          <a:xfrm>
            <a:off x="4483510" y="3371381"/>
            <a:ext cx="4457882" cy="3206400"/>
          </a:xfrm>
          <a:prstGeom prst="rect">
            <a:avLst/>
          </a:prstGeom>
        </p:spPr>
      </p:pic>
    </p:spTree>
    <p:extLst>
      <p:ext uri="{BB962C8B-B14F-4D97-AF65-F5344CB8AC3E}">
        <p14:creationId xmlns:p14="http://schemas.microsoft.com/office/powerpoint/2010/main" val="303269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Key Insights</a:t>
            </a:r>
          </a:p>
        </p:txBody>
      </p:sp>
      <p:sp>
        <p:nvSpPr>
          <p:cNvPr id="3" name="Content Placeholder 2"/>
          <p:cNvSpPr>
            <a:spLocks noGrp="1"/>
          </p:cNvSpPr>
          <p:nvPr>
            <p:ph idx="1"/>
          </p:nvPr>
        </p:nvSpPr>
        <p:spPr>
          <a:xfrm>
            <a:off x="456036" y="1610745"/>
            <a:ext cx="7524003" cy="3636510"/>
          </a:xfrm>
        </p:spPr>
        <p:txBody>
          <a:bodyPr/>
          <a:lstStyle/>
          <a:p>
            <a:r>
              <a:rPr dirty="0"/>
              <a:t> </a:t>
            </a:r>
            <a:r>
              <a:rPr dirty="0">
                <a:latin typeface="Arial Rounded MT Bold" panose="020F0704030504030204" pitchFamily="34" charset="0"/>
              </a:rPr>
              <a:t>Certain states consistently outperform others in transactions.</a:t>
            </a:r>
          </a:p>
          <a:p>
            <a:r>
              <a:rPr dirty="0">
                <a:latin typeface="Arial Rounded MT Bold" panose="020F0704030504030204" pitchFamily="34" charset="0"/>
              </a:rPr>
              <a:t> Device usage significantly influences engagement.</a:t>
            </a:r>
          </a:p>
          <a:p>
            <a:r>
              <a:rPr lang="en-IN" dirty="0">
                <a:latin typeface="Arial Rounded MT Bold" panose="020F0704030504030204" pitchFamily="34" charset="0"/>
              </a:rPr>
              <a:t> </a:t>
            </a:r>
            <a:r>
              <a:rPr dirty="0">
                <a:latin typeface="Arial Rounded MT Bold" panose="020F0704030504030204" pitchFamily="34" charset="0"/>
              </a:rPr>
              <a:t>Insurance services gaining momentum.</a:t>
            </a:r>
          </a:p>
          <a:p>
            <a:r>
              <a:rPr lang="en-IN" dirty="0">
                <a:latin typeface="Arial Rounded MT Bold" panose="020F0704030504030204" pitchFamily="34" charset="0"/>
              </a:rPr>
              <a:t> </a:t>
            </a:r>
            <a:r>
              <a:rPr dirty="0">
                <a:latin typeface="Arial Rounded MT Bold" panose="020F0704030504030204" pitchFamily="34" charset="0"/>
              </a:rPr>
              <a:t>Dashboard makes insights accessible.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Recommendations</a:t>
            </a:r>
          </a:p>
        </p:txBody>
      </p:sp>
      <p:sp>
        <p:nvSpPr>
          <p:cNvPr id="3" name="Content Placeholder 2"/>
          <p:cNvSpPr>
            <a:spLocks noGrp="1"/>
          </p:cNvSpPr>
          <p:nvPr>
            <p:ph idx="1"/>
          </p:nvPr>
        </p:nvSpPr>
        <p:spPr>
          <a:xfrm>
            <a:off x="387209" y="1897822"/>
            <a:ext cx="7524003" cy="3636510"/>
          </a:xfrm>
        </p:spPr>
        <p:txBody>
          <a:bodyPr/>
          <a:lstStyle/>
          <a:p>
            <a:r>
              <a:rPr lang="en-IN" dirty="0"/>
              <a:t> </a:t>
            </a:r>
            <a:r>
              <a:rPr dirty="0">
                <a:latin typeface="Arial Rounded MT Bold" panose="020F0704030504030204" pitchFamily="34" charset="0"/>
              </a:rPr>
              <a:t>Focus marketing in underperforming but potential-rich states.</a:t>
            </a:r>
          </a:p>
          <a:p>
            <a:r>
              <a:rPr dirty="0">
                <a:latin typeface="Arial Rounded MT Bold" panose="020F0704030504030204" pitchFamily="34" charset="0"/>
              </a:rPr>
              <a:t> Improve app performance on top user devices.</a:t>
            </a:r>
          </a:p>
          <a:p>
            <a:r>
              <a:rPr dirty="0">
                <a:latin typeface="Arial Rounded MT Bold" panose="020F0704030504030204" pitchFamily="34" charset="0"/>
              </a:rPr>
              <a:t> Expand insurance services in low-penetration areas.</a:t>
            </a:r>
          </a:p>
          <a:p>
            <a:r>
              <a:rPr dirty="0">
                <a:latin typeface="Arial Rounded MT Bold" panose="020F0704030504030204" pitchFamily="34" charset="0"/>
              </a:rPr>
              <a:t> Use dashboard regularly for tracking.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Conclusion</a:t>
            </a:r>
          </a:p>
        </p:txBody>
      </p:sp>
      <p:sp>
        <p:nvSpPr>
          <p:cNvPr id="4" name="Rectangle 1">
            <a:extLst>
              <a:ext uri="{FF2B5EF4-FFF2-40B4-BE49-F238E27FC236}">
                <a16:creationId xmlns:a16="http://schemas.microsoft.com/office/drawing/2014/main" id="{2553DDAF-2E54-EC51-E6D3-E6AF724D1CC9}"/>
              </a:ext>
            </a:extLst>
          </p:cNvPr>
          <p:cNvSpPr>
            <a:spLocks noGrp="1" noChangeArrowheads="1"/>
          </p:cNvSpPr>
          <p:nvPr>
            <p:ph idx="1"/>
          </p:nvPr>
        </p:nvSpPr>
        <p:spPr bwMode="auto">
          <a:xfrm>
            <a:off x="190919" y="2602915"/>
            <a:ext cx="11803164"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Arial Rounded MT Bold" panose="020F0704030504030204" pitchFamily="34" charset="0"/>
              </a:rPr>
              <a:t>This project delivers </a:t>
            </a:r>
            <a:r>
              <a:rPr kumimoji="0" lang="en-US" altLang="en-US" sz="1600" b="1" i="0" u="none" strike="noStrike" cap="none" normalizeH="0" baseline="0" dirty="0">
                <a:ln>
                  <a:noFill/>
                </a:ln>
                <a:solidFill>
                  <a:schemeClr val="tx1"/>
                </a:solidFill>
                <a:effectLst/>
                <a:latin typeface="Arial Rounded MT Bold" panose="020F0704030504030204" pitchFamily="34" charset="0"/>
              </a:rPr>
              <a:t>actionable insights</a:t>
            </a:r>
            <a:r>
              <a:rPr kumimoji="0" lang="en-US" altLang="en-US" sz="1600" b="0" i="0" u="none" strike="noStrike" cap="none" normalizeH="0" baseline="0" dirty="0">
                <a:ln>
                  <a:noFill/>
                </a:ln>
                <a:solidFill>
                  <a:schemeClr val="tx1"/>
                </a:solidFill>
                <a:effectLst/>
                <a:latin typeface="Arial Rounded MT Bold" panose="020F0704030504030204" pitchFamily="34" charset="0"/>
              </a:rPr>
              <a:t> through </a:t>
            </a:r>
            <a:r>
              <a:rPr kumimoji="0" lang="en-US" altLang="en-US" sz="1600" b="1" i="0" u="none" strike="noStrike" cap="none" normalizeH="0" baseline="0" dirty="0">
                <a:ln>
                  <a:noFill/>
                </a:ln>
                <a:solidFill>
                  <a:schemeClr val="tx1"/>
                </a:solidFill>
                <a:effectLst/>
                <a:latin typeface="Arial Rounded MT Bold" panose="020F0704030504030204" pitchFamily="34" charset="0"/>
              </a:rPr>
              <a:t>9 detailed case studies</a:t>
            </a:r>
            <a:r>
              <a:rPr kumimoji="0" lang="en-US" altLang="en-US" sz="1600" b="0" i="0" u="none" strike="noStrike" cap="none" normalizeH="0" baseline="0" dirty="0">
                <a:ln>
                  <a:noFill/>
                </a:ln>
                <a:solidFill>
                  <a:schemeClr val="tx1"/>
                </a:solidFill>
                <a:effectLst/>
                <a:latin typeface="Arial Rounded MT Bold" panose="020F0704030504030204" pitchFamily="34" charset="0"/>
              </a:rPr>
              <a:t>, exploring user</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Arial Rounded MT Bold" panose="020F0704030504030204" pitchFamily="34" charset="0"/>
              </a:rPr>
              <a:t> behavior, transaction trends, and insurance adoption.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sng" strike="noStrike" cap="none" normalizeH="0" baseline="0" dirty="0">
                <a:ln>
                  <a:noFill/>
                </a:ln>
                <a:solidFill>
                  <a:srgbClr val="00B0F0"/>
                </a:solidFill>
                <a:effectLst/>
                <a:latin typeface="Arial Rounded MT Bold" panose="020F0704030504030204" pitchFamily="34" charset="0"/>
              </a:rPr>
              <a:t>The analysis uncovers</a:t>
            </a:r>
            <a:r>
              <a:rPr kumimoji="0" lang="en-US" altLang="en-US" sz="1600" b="0" i="0" u="none" strike="noStrike" cap="none" normalizeH="0" baseline="0" dirty="0">
                <a:ln>
                  <a:noFill/>
                </a:ln>
                <a:solidFill>
                  <a:schemeClr val="tx1"/>
                </a:solidFill>
                <a:effectLst/>
                <a:latin typeface="Arial Rounded MT Bold" panose="020F070403050403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Rounded MT Bold" panose="020F0704030504030204" pitchFamily="34" charset="0"/>
              </a:rPr>
              <a:t>Strong urban engagement &amp; growth in key districts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Rounded MT Bold" panose="020F0704030504030204" pitchFamily="34" charset="0"/>
              </a:rPr>
              <a:t>Untapped potential in insurance penetration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Rounded MT Bold" panose="020F0704030504030204" pitchFamily="34" charset="0"/>
              </a:rPr>
              <a:t>Region-specific device usage and registration patterns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Rounded MT Bold" panose="020F070403050403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1" i="0" u="sng" strike="noStrike" cap="none" normalizeH="0" baseline="0" dirty="0">
                <a:ln>
                  <a:noFill/>
                </a:ln>
                <a:solidFill>
                  <a:srgbClr val="00B0F0"/>
                </a:solidFill>
                <a:effectLst/>
                <a:latin typeface="Arial" panose="020B0604020202020204" pitchFamily="34" charset="0"/>
              </a:rPr>
              <a:t>Future Scope</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Arial" panose="020B0604020202020204" pitchFamily="34" charset="0"/>
              </a:rPr>
              <a:t>Real-time dashboard integration, user segmentation, and </a:t>
            </a:r>
            <a:r>
              <a:rPr kumimoji="0" lang="en-US" altLang="en-US" sz="1600" b="1" i="0" u="none" strike="noStrike" cap="none" normalizeH="0" baseline="0" dirty="0">
                <a:ln>
                  <a:noFill/>
                </a:ln>
                <a:solidFill>
                  <a:schemeClr val="tx1"/>
                </a:solidFill>
                <a:effectLst/>
                <a:latin typeface="Arial" panose="020B0604020202020204" pitchFamily="34" charset="0"/>
              </a:rPr>
              <a:t>predictive modeling</a:t>
            </a:r>
            <a:r>
              <a:rPr kumimoji="0" lang="en-US" altLang="en-US" sz="1600" b="0" i="0" u="none" strike="noStrike" cap="none" normalizeH="0" baseline="0" dirty="0">
                <a:ln>
                  <a:noFill/>
                </a:ln>
                <a:solidFill>
                  <a:schemeClr val="tx1"/>
                </a:solidFill>
                <a:effectLst/>
                <a:latin typeface="Arial" panose="020B0604020202020204" pitchFamily="34" charset="0"/>
              </a:rPr>
              <a:t> for proactive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Arial" panose="020B0604020202020204" pitchFamily="34" charset="0"/>
              </a:rPr>
              <a:t>business strategies.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docProps/app.xml><?xml version="1.0" encoding="utf-8"?>
<Properties xmlns="http://schemas.openxmlformats.org/officeDocument/2006/extended-properties" xmlns:vt="http://schemas.openxmlformats.org/officeDocument/2006/docPropsVTypes">
  <Template>Quotable</Template>
  <TotalTime>82</TotalTime>
  <Words>887</Words>
  <Application>Microsoft Office PowerPoint</Application>
  <PresentationFormat>On-screen Show (4:3)</PresentationFormat>
  <Paragraphs>94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Arial Rounded MT Bold</vt:lpstr>
      <vt:lpstr>Century Gothic</vt:lpstr>
      <vt:lpstr>Wingdings 2</vt:lpstr>
      <vt:lpstr>Quotable</vt:lpstr>
      <vt:lpstr>PhonePe Transaction Insights   Domain: Finance/Payments system  BY: SANJANA AGARWAL</vt:lpstr>
      <vt:lpstr>Introduction</vt:lpstr>
      <vt:lpstr>Problem Statement</vt:lpstr>
      <vt:lpstr>Objectives</vt:lpstr>
      <vt:lpstr>Data Sources</vt:lpstr>
      <vt:lpstr>Tech Stack &amp; Tools</vt:lpstr>
      <vt:lpstr>Case Study 1: Decoding Transaction Dynamics</vt:lpstr>
      <vt:lpstr>Case Study 2: Device Dominance Analysis</vt:lpstr>
      <vt:lpstr>Case Study 3 &amp; 4: Insurance &amp; Market Expansion</vt:lpstr>
      <vt:lpstr>Case Study 5–9: Engagement &amp; State Insights</vt:lpstr>
      <vt:lpstr>Dashboard Demo</vt:lpstr>
      <vt:lpstr>PowerPoint Presentation</vt:lpstr>
      <vt:lpstr>Key Insights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Sanjana Agarwal</dc:creator>
  <cp:keywords/>
  <dc:description>generated using python-pptx</dc:description>
  <cp:lastModifiedBy>Sanjana Agarwal</cp:lastModifiedBy>
  <cp:revision>3</cp:revision>
  <dcterms:created xsi:type="dcterms:W3CDTF">2013-01-27T09:14:16Z</dcterms:created>
  <dcterms:modified xsi:type="dcterms:W3CDTF">2025-05-03T14:51:04Z</dcterms:modified>
  <cp:category/>
</cp:coreProperties>
</file>